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 snapToObjects="1">
      <p:cViewPr varScale="1">
        <p:scale>
          <a:sx n="110" d="100"/>
          <a:sy n="110" d="100"/>
        </p:scale>
        <p:origin x="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64592"/>
            <a:ext cx="14081760" cy="32004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1500" b="1" i="0">
                <a:solidFill>
                  <a:srgbClr val="1F3A5F"/>
                </a:solidFill>
                <a:latin typeface="Arial"/>
              </a:rPr>
              <a:t>Gli atti che SIPO non gestisce in automatico: i due percorsi attraverso la web app ANSC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1408176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Arial"/>
              </a:rPr>
              <a:t>Stesura sulla web app, numero comunale e ritorno in SIPO per l’importazione dei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694944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Arial"/>
              </a:rPr>
              <a:t>Gestione 1 — atti a testo libero o non gestiti (onerosa/rischiosa)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41832"/>
            <a:ext cx="694944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Arial"/>
              </a:rPr>
              <a:t>Per i tipi atto NON a testo libero inseriti in web app con un UC di servizio: l’assenza di UC si scopre al Riepilogo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61288"/>
            <a:ext cx="3154680" cy="6812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79576"/>
            <a:ext cx="31546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Arial"/>
              </a:rPr>
              <a:t>SIPO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1161288"/>
            <a:ext cx="1600200" cy="6812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39" y="1179576"/>
            <a:ext cx="160020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Arial"/>
              </a:rPr>
              <a:t>Stato ANSC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1161288"/>
            <a:ext cx="2011680" cy="68122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1179576"/>
            <a:ext cx="20116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Arial"/>
              </a:rPr>
              <a:t>Web app ANSC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89888"/>
            <a:ext cx="2057400" cy="402336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Stesura dell’atto su SIPO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fino alla pagina di Riepilogo</a:t>
            </a:r>
          </a:p>
        </p:txBody>
      </p:sp>
      <p:sp>
        <p:nvSpPr>
          <p:cNvPr id="13" name="Diamond 12"/>
          <p:cNvSpPr/>
          <p:nvPr/>
        </p:nvSpPr>
        <p:spPr>
          <a:xfrm>
            <a:off x="365760" y="1911095"/>
            <a:ext cx="2057400" cy="566928"/>
          </a:xfrm>
          <a:prstGeom prst="diamond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700" b="1">
                <a:solidFill>
                  <a:srgbClr val="1F2937"/>
                </a:solidFill>
                <a:latin typeface="Arial"/>
              </a:rPr>
              <a:t>Riepilogo:</a:t>
            </a:r>
          </a:p>
          <a:p>
            <a:pPr algn="ctr"/>
            <a:r>
              <a:rPr sz="700" b="1">
                <a:solidFill>
                  <a:srgbClr val="1F2937"/>
                </a:solidFill>
                <a:latin typeface="Arial"/>
              </a:rPr>
              <a:t>esiste un UC per l’atto?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1956815"/>
            <a:ext cx="841248" cy="475488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750" b="1">
                <a:solidFill>
                  <a:srgbClr val="1F2937"/>
                </a:solidFill>
                <a:latin typeface="Arial"/>
              </a:rPr>
              <a:t>Percorso ordinario</a:t>
            </a:r>
          </a:p>
          <a:p>
            <a:pPr algn="ctr"/>
            <a:r>
              <a:rPr sz="650" b="0">
                <a:solidFill>
                  <a:srgbClr val="6B7280"/>
                </a:solidFill>
                <a:latin typeface="Arial"/>
              </a:rPr>
              <a:t>firmatari, allegati, R009…</a:t>
            </a:r>
          </a:p>
        </p:txBody>
      </p:sp>
      <p:cxnSp>
        <p:nvCxnSpPr>
          <p:cNvPr id="15" name="Connector 14"/>
          <p:cNvCxnSpPr>
            <a:stCxn id="13" idx="3"/>
            <a:endCxn id="14" idx="1"/>
          </p:cNvCxnSpPr>
          <p:nvPr/>
        </p:nvCxnSpPr>
        <p:spPr>
          <a:xfrm flipV="1">
            <a:off x="2423160" y="2194559"/>
            <a:ext cx="91440" cy="0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377440" y="2039112"/>
            <a:ext cx="22860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00" b="1" i="0">
                <a:solidFill>
                  <a:srgbClr val="1F2937"/>
                </a:solidFill>
                <a:latin typeface="Arial"/>
              </a:rPr>
              <a:t>Sì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9324" y="2482596"/>
            <a:ext cx="274320" cy="128016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00" b="1" i="0">
                <a:solidFill>
                  <a:srgbClr val="1F2937"/>
                </a:solidFill>
                <a:latin typeface="Arial"/>
              </a:rPr>
              <a:t>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596896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Riepilogo senza UC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non si presentano la lista dei firmatari né quella degli allegati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172968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F6DFE1"/>
          </a:solidFill>
          <a:ln w="13970">
            <a:solidFill>
              <a:srgbClr val="B0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>
                <a:solidFill>
                  <a:srgbClr val="B03A48"/>
                </a:solidFill>
                <a:latin typeface="Arial"/>
              </a:rPr>
              <a:t>Messaggio del sistema</a:t>
            </a:r>
          </a:p>
          <a:p>
            <a:pPr algn="ctr"/>
            <a:r>
              <a:rPr sz="650" b="0">
                <a:solidFill>
                  <a:srgbClr val="1F2937"/>
                </a:solidFill>
                <a:latin typeface="Arial"/>
              </a:rPr>
              <a:t>«Non è possibile gestire in automatico questo atto in SIPO; devi inserirlo direttamente in WebApp e ritornare su SIPO per concluderlo.»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58768"/>
            <a:ext cx="2057400" cy="402336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Stacco del numero comunale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3895344"/>
            <a:ext cx="841248" cy="329184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650" b="0">
                <a:solidFill>
                  <a:srgbClr val="1F2937"/>
                </a:solidFill>
                <a:latin typeface="Arial"/>
              </a:rPr>
              <a:t>num-ansc-sipo · creaPrenotazione</a:t>
            </a:r>
          </a:p>
        </p:txBody>
      </p:sp>
      <p:cxnSp>
        <p:nvCxnSpPr>
          <p:cNvPr id="22" name="Connector 21"/>
          <p:cNvCxnSpPr>
            <a:stCxn id="20" idx="3"/>
            <a:endCxn id="21" idx="1"/>
          </p:cNvCxnSpPr>
          <p:nvPr/>
        </p:nvCxnSpPr>
        <p:spPr>
          <a:xfrm flipV="1">
            <a:off x="2423160" y="4059936"/>
            <a:ext cx="91440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" y="4379976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Anteprima: testo dell’atto generato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solo per i tipi atto NON a testo libero, il cui testo è generato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0168" y="4956048"/>
            <a:ext cx="1380744" cy="45720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 dirty="0">
                <a:solidFill>
                  <a:srgbClr val="1F2937"/>
                </a:solidFill>
                <a:latin typeface="Arial"/>
              </a:rPr>
              <a:t>YY · SOSPESO</a:t>
            </a:r>
          </a:p>
          <a:p>
            <a:pPr algn="ctr"/>
            <a:r>
              <a:rPr sz="650" b="0" dirty="0">
                <a:solidFill>
                  <a:srgbClr val="6B7280"/>
                </a:solidFill>
                <a:latin typeface="Arial"/>
              </a:rPr>
              <a:t>in </a:t>
            </a:r>
            <a:r>
              <a:rPr sz="650" b="0" dirty="0" err="1">
                <a:solidFill>
                  <a:srgbClr val="6B7280"/>
                </a:solidFill>
                <a:latin typeface="Arial"/>
              </a:rPr>
              <a:t>attesa</a:t>
            </a:r>
            <a:r>
              <a:rPr sz="650" b="0" dirty="0">
                <a:solidFill>
                  <a:srgbClr val="6B7280"/>
                </a:solidFill>
                <a:latin typeface="Arial"/>
              </a:rPr>
              <a:t> della </a:t>
            </a:r>
            <a:r>
              <a:rPr sz="650" b="0" dirty="0" err="1">
                <a:solidFill>
                  <a:srgbClr val="6B7280"/>
                </a:solidFill>
                <a:latin typeface="Arial"/>
              </a:rPr>
              <a:t>stesura</a:t>
            </a:r>
            <a:r>
              <a:rPr sz="65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650" b="0" dirty="0" err="1">
                <a:solidFill>
                  <a:srgbClr val="6B7280"/>
                </a:solidFill>
                <a:latin typeface="Arial"/>
              </a:rPr>
              <a:t>sulla</a:t>
            </a:r>
            <a:r>
              <a:rPr sz="650" b="0" dirty="0">
                <a:solidFill>
                  <a:srgbClr val="6B7280"/>
                </a:solidFill>
                <a:latin typeface="Arial"/>
              </a:rPr>
              <a:t> web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21808" y="5532120"/>
            <a:ext cx="1792224" cy="548640"/>
          </a:xfrm>
          <a:prstGeom prst="roundRect">
            <a:avLst>
              <a:gd name="adj" fmla="val 12000"/>
            </a:avLst>
          </a:prstGeom>
          <a:solidFill>
            <a:srgbClr val="ECE5F5"/>
          </a:solidFill>
          <a:ln w="13970">
            <a:solidFill>
              <a:srgbClr val="7B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 dirty="0" err="1">
                <a:solidFill>
                  <a:srgbClr val="1F2937"/>
                </a:solidFill>
                <a:latin typeface="Arial"/>
              </a:rPr>
              <a:t>Stesura</a:t>
            </a:r>
            <a:r>
              <a:rPr sz="8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850" b="1" dirty="0" err="1">
                <a:solidFill>
                  <a:srgbClr val="1F2937"/>
                </a:solidFill>
                <a:latin typeface="Arial"/>
              </a:rPr>
              <a:t>dell’atto</a:t>
            </a:r>
            <a:r>
              <a:rPr sz="85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850" b="1" dirty="0" err="1">
                <a:solidFill>
                  <a:srgbClr val="1F2937"/>
                </a:solidFill>
                <a:latin typeface="Arial"/>
              </a:rPr>
              <a:t>sulla</a:t>
            </a:r>
            <a:r>
              <a:rPr sz="850" b="1" dirty="0">
                <a:solidFill>
                  <a:srgbClr val="1F2937"/>
                </a:solidFill>
                <a:latin typeface="Arial"/>
              </a:rPr>
              <a:t> web app</a:t>
            </a:r>
          </a:p>
          <a:p>
            <a:pPr algn="ctr"/>
            <a:r>
              <a:rPr sz="700" b="0" dirty="0">
                <a:solidFill>
                  <a:srgbClr val="6B7280"/>
                </a:solidFill>
                <a:latin typeface="Arial"/>
              </a:rPr>
              <a:t>con un UC di </a:t>
            </a:r>
            <a:r>
              <a:rPr sz="700" b="0" dirty="0" err="1">
                <a:solidFill>
                  <a:srgbClr val="6B7280"/>
                </a:solidFill>
                <a:latin typeface="Arial"/>
              </a:rPr>
              <a:t>servizio</a:t>
            </a:r>
            <a:r>
              <a:rPr sz="700" b="0" dirty="0">
                <a:solidFill>
                  <a:srgbClr val="6B7280"/>
                </a:solidFill>
                <a:latin typeface="Arial"/>
              </a:rPr>
              <a:t>; </a:t>
            </a:r>
            <a:r>
              <a:rPr sz="700" b="0" dirty="0" err="1">
                <a:solidFill>
                  <a:srgbClr val="6B7280"/>
                </a:solidFill>
                <a:latin typeface="Arial"/>
              </a:rPr>
              <a:t>si</a:t>
            </a:r>
            <a:r>
              <a:rPr sz="7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700" b="0" dirty="0" err="1">
                <a:solidFill>
                  <a:srgbClr val="6B7280"/>
                </a:solidFill>
                <a:latin typeface="Arial"/>
              </a:rPr>
              <a:t>può</a:t>
            </a:r>
            <a:r>
              <a:rPr sz="700" b="0" dirty="0">
                <a:solidFill>
                  <a:srgbClr val="6B7280"/>
                </a:solidFill>
                <a:latin typeface="Arial"/>
              </a:rPr>
              <a:t> </a:t>
            </a:r>
            <a:r>
              <a:rPr sz="700" b="0" dirty="0" err="1">
                <a:solidFill>
                  <a:srgbClr val="6B7280"/>
                </a:solidFill>
                <a:latin typeface="Arial"/>
              </a:rPr>
              <a:t>copiare</a:t>
            </a:r>
            <a:r>
              <a:rPr sz="700" b="0" dirty="0">
                <a:solidFill>
                  <a:srgbClr val="6B7280"/>
                </a:solidFill>
                <a:latin typeface="Arial"/>
              </a:rPr>
              <a:t> il testo </a:t>
            </a:r>
            <a:r>
              <a:rPr sz="700" b="0" dirty="0" err="1">
                <a:solidFill>
                  <a:srgbClr val="6B7280"/>
                </a:solidFill>
                <a:latin typeface="Arial"/>
              </a:rPr>
              <a:t>generato</a:t>
            </a:r>
            <a:r>
              <a:rPr sz="700" b="0" dirty="0">
                <a:solidFill>
                  <a:srgbClr val="6B7280"/>
                </a:solidFill>
                <a:latin typeface="Arial"/>
              </a:rPr>
              <a:t> da SIPO</a:t>
            </a:r>
            <a:endParaRPr lang="it-IT" sz="700" b="0" dirty="0">
              <a:solidFill>
                <a:srgbClr val="6B7280"/>
              </a:solidFill>
              <a:latin typeface="Arial"/>
            </a:endParaRPr>
          </a:p>
          <a:p>
            <a:pPr algn="ctr"/>
            <a:r>
              <a:rPr lang="it-IT" sz="700" dirty="0">
                <a:solidFill>
                  <a:srgbClr val="6B7280"/>
                </a:solidFill>
                <a:latin typeface="Arial"/>
              </a:rPr>
              <a:t>E’ necessario anche reinserire i soggetti</a:t>
            </a:r>
            <a:endParaRPr sz="700" b="0" dirty="0">
              <a:solidFill>
                <a:srgbClr val="6B728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5760" y="6199631"/>
            <a:ext cx="2057400" cy="438912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Ritorno in SIPO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ricerca dell’atto appena steso sulla web app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6236207"/>
            <a:ext cx="841248" cy="365759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650" b="0">
                <a:solidFill>
                  <a:srgbClr val="1F2937"/>
                </a:solidFill>
                <a:latin typeface="Arial"/>
              </a:rPr>
              <a:t>R005 · consultazione dell’atto</a:t>
            </a:r>
          </a:p>
        </p:txBody>
      </p:sp>
      <p:cxnSp>
        <p:nvCxnSpPr>
          <p:cNvPr id="28" name="Connector 27"/>
          <p:cNvCxnSpPr>
            <a:stCxn id="26" idx="3"/>
            <a:endCxn id="27" idx="1"/>
          </p:cNvCxnSpPr>
          <p:nvPr/>
        </p:nvCxnSpPr>
        <p:spPr>
          <a:xfrm flipV="1">
            <a:off x="2423160" y="6419086"/>
            <a:ext cx="91440" cy="1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6757416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Importazione dei dati</a:t>
            </a:r>
          </a:p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>idAnsc · idUsecase · idVersion</a:t>
            </a:r>
          </a:p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>testo · idSoggettoAnsc ·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7443216"/>
            <a:ext cx="2057400" cy="420624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B03A48"/>
                </a:solidFill>
                <a:latin typeface="Arial"/>
              </a:rPr>
              <a:t>?! Conclusione del processo in SIPO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da definire</a:t>
            </a:r>
          </a:p>
        </p:txBody>
      </p:sp>
      <p:cxnSp>
        <p:nvCxnSpPr>
          <p:cNvPr id="31" name="Connector 30"/>
          <p:cNvCxnSpPr>
            <a:stCxn id="12" idx="2"/>
            <a:endCxn id="13" idx="0"/>
          </p:cNvCxnSpPr>
          <p:nvPr/>
        </p:nvCxnSpPr>
        <p:spPr>
          <a:xfrm flipH="1">
            <a:off x="1394460" y="1792224"/>
            <a:ext cx="0" cy="118871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3" idx="2"/>
            <a:endCxn id="18" idx="0"/>
          </p:cNvCxnSpPr>
          <p:nvPr/>
        </p:nvCxnSpPr>
        <p:spPr>
          <a:xfrm flipH="1">
            <a:off x="1394460" y="2478023"/>
            <a:ext cx="0" cy="118873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18" idx="2"/>
            <a:endCxn id="19" idx="0"/>
          </p:cNvCxnSpPr>
          <p:nvPr/>
        </p:nvCxnSpPr>
        <p:spPr>
          <a:xfrm flipH="1">
            <a:off x="1394460" y="3054096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9" idx="2"/>
            <a:endCxn id="20" idx="0"/>
          </p:cNvCxnSpPr>
          <p:nvPr/>
        </p:nvCxnSpPr>
        <p:spPr>
          <a:xfrm flipH="1">
            <a:off x="1394460" y="3739896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0" idx="2"/>
            <a:endCxn id="23" idx="0"/>
          </p:cNvCxnSpPr>
          <p:nvPr/>
        </p:nvCxnSpPr>
        <p:spPr>
          <a:xfrm flipH="1">
            <a:off x="1394460" y="4261104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1394460" y="4837176"/>
            <a:ext cx="2926080" cy="118872"/>
          </a:xfrm>
          <a:custGeom>
            <a:avLst/>
            <a:gdLst/>
            <a:ahLst/>
            <a:cxnLst/>
            <a:rect l="l" t="t" r="r" b="b"/>
            <a:pathLst>
              <a:path w="2926080" h="118872">
                <a:moveTo>
                  <a:pt x="0" y="0"/>
                </a:moveTo>
                <a:lnTo>
                  <a:pt x="0" y="59436"/>
                </a:lnTo>
                <a:lnTo>
                  <a:pt x="2926080" y="59436"/>
                </a:lnTo>
                <a:lnTo>
                  <a:pt x="2926080" y="118872"/>
                </a:lnTo>
              </a:path>
            </a:pathLst>
          </a:custGeom>
          <a:noFill/>
          <a:ln w="1397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4320540" y="5413248"/>
            <a:ext cx="1897380" cy="118872"/>
          </a:xfrm>
          <a:custGeom>
            <a:avLst/>
            <a:gdLst/>
            <a:ahLst/>
            <a:cxnLst/>
            <a:rect l="l" t="t" r="r" b="b"/>
            <a:pathLst>
              <a:path w="1897380" h="118872">
                <a:moveTo>
                  <a:pt x="0" y="0"/>
                </a:moveTo>
                <a:lnTo>
                  <a:pt x="0" y="59435"/>
                </a:lnTo>
                <a:lnTo>
                  <a:pt x="1897380" y="59435"/>
                </a:lnTo>
                <a:lnTo>
                  <a:pt x="1897380" y="118872"/>
                </a:lnTo>
              </a:path>
            </a:pathLst>
          </a:custGeom>
          <a:noFill/>
          <a:ln w="1397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1394460" y="6080759"/>
            <a:ext cx="4823460" cy="118872"/>
          </a:xfrm>
          <a:custGeom>
            <a:avLst/>
            <a:gdLst/>
            <a:ahLst/>
            <a:cxnLst/>
            <a:rect l="l" t="t" r="r" b="b"/>
            <a:pathLst>
              <a:path w="4823460" h="118872">
                <a:moveTo>
                  <a:pt x="4823460" y="0"/>
                </a:moveTo>
                <a:lnTo>
                  <a:pt x="4823460" y="59436"/>
                </a:lnTo>
                <a:lnTo>
                  <a:pt x="0" y="59436"/>
                </a:lnTo>
                <a:lnTo>
                  <a:pt x="0" y="118872"/>
                </a:lnTo>
              </a:path>
            </a:pathLst>
          </a:custGeom>
          <a:noFill/>
          <a:ln w="1397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>
            <a:stCxn id="26" idx="2"/>
            <a:endCxn id="29" idx="0"/>
          </p:cNvCxnSpPr>
          <p:nvPr/>
        </p:nvCxnSpPr>
        <p:spPr>
          <a:xfrm flipH="1">
            <a:off x="1394460" y="6638543"/>
            <a:ext cx="0" cy="118873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9" idx="2"/>
            <a:endCxn id="30" idx="0"/>
          </p:cNvCxnSpPr>
          <p:nvPr/>
        </p:nvCxnSpPr>
        <p:spPr>
          <a:xfrm flipH="1">
            <a:off x="1394460" y="7324344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406640" y="731520"/>
            <a:ext cx="6949440" cy="22860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Arial"/>
              </a:rPr>
              <a:t>Gestione 2 — atti a testo libero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941832"/>
            <a:ext cx="6949440" cy="18288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Arial"/>
              </a:rPr>
              <a:t>Per i tipi atto a testo libero inseriti in web app con qualsiasi UC: il caso si riconosce alla richiesta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1161288"/>
            <a:ext cx="3154680" cy="5138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06640" y="1179576"/>
            <a:ext cx="31546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Arial"/>
              </a:rPr>
              <a:t>SIPO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652759" y="1161288"/>
            <a:ext cx="1600200" cy="5138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52759" y="1179576"/>
            <a:ext cx="160020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Arial"/>
              </a:rPr>
              <a:t>Stato ANSC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344400" y="1161288"/>
            <a:ext cx="2011680" cy="513892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2344400" y="1179576"/>
            <a:ext cx="2011680" cy="164592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/>
            <a:r>
              <a:rPr sz="800" b="1" i="0">
                <a:solidFill>
                  <a:srgbClr val="1F2937"/>
                </a:solidFill>
                <a:latin typeface="Arial"/>
              </a:rPr>
              <a:t>Web app ANSC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79" y="1389888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Richiesta di stesura di un tipo atto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l’USC sceglie, ad esempio, un atto a testo libero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1965960"/>
            <a:ext cx="2057400" cy="566928"/>
          </a:xfrm>
          <a:prstGeom prst="roundRect">
            <a:avLst>
              <a:gd name="adj" fmla="val 12000"/>
            </a:avLst>
          </a:prstGeom>
          <a:solidFill>
            <a:srgbClr val="F6DFE1"/>
          </a:solidFill>
          <a:ln w="13970">
            <a:solidFill>
              <a:srgbClr val="B0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1">
                <a:solidFill>
                  <a:srgbClr val="B03A48"/>
                </a:solidFill>
                <a:latin typeface="Arial"/>
              </a:rPr>
              <a:t>Messaggio del sistema</a:t>
            </a:r>
          </a:p>
          <a:p>
            <a:pPr algn="ctr"/>
            <a:r>
              <a:rPr sz="650" b="0">
                <a:solidFill>
                  <a:srgbClr val="1F2937"/>
                </a:solidFill>
                <a:latin typeface="Arial"/>
              </a:rPr>
              <a:t>«Non è possibile gestire in automatico questo atto in SIPO; devi inserirlo direttamente in WebApp e ritornare su SIPO per concluderlo.»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79" y="2651760"/>
            <a:ext cx="2057400" cy="457200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Nuova pagina: stacco del numero comunale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l’USC vi è indirizzato direttamente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688336"/>
            <a:ext cx="841248" cy="384048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650" b="0">
                <a:solidFill>
                  <a:srgbClr val="1F2937"/>
                </a:solidFill>
                <a:latin typeface="Arial"/>
              </a:rPr>
              <a:t>num-ansc-sipo · creaPrenotazione</a:t>
            </a:r>
          </a:p>
        </p:txBody>
      </p:sp>
      <p:cxnSp>
        <p:nvCxnSpPr>
          <p:cNvPr id="53" name="Connector 52"/>
          <p:cNvCxnSpPr>
            <a:stCxn id="51" idx="3"/>
            <a:endCxn id="52" idx="1"/>
          </p:cNvCxnSpPr>
          <p:nvPr/>
        </p:nvCxnSpPr>
        <p:spPr>
          <a:xfrm flipV="1">
            <a:off x="9555479" y="2880360"/>
            <a:ext cx="91441" cy="0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0762487" y="3227832"/>
            <a:ext cx="1380744" cy="45720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YY · SOSPESO</a:t>
            </a:r>
          </a:p>
          <a:p>
            <a:pPr algn="ctr"/>
            <a:r>
              <a:rPr sz="650" b="0">
                <a:solidFill>
                  <a:srgbClr val="6B7280"/>
                </a:solidFill>
                <a:latin typeface="Arial"/>
              </a:rPr>
              <a:t>in attesa della stesura sulla web app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454128" y="3803904"/>
            <a:ext cx="1792224" cy="457200"/>
          </a:xfrm>
          <a:prstGeom prst="roundRect">
            <a:avLst>
              <a:gd name="adj" fmla="val 12000"/>
            </a:avLst>
          </a:prstGeom>
          <a:solidFill>
            <a:srgbClr val="ECE5F5"/>
          </a:solidFill>
          <a:ln w="13970">
            <a:solidFill>
              <a:srgbClr val="7B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Stesura dell’atto sulla web app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con qualsiasi UC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79" y="4379976"/>
            <a:ext cx="2057400" cy="438912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Ritorno in SIPO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ricerca dell’atto appena steso sulla web app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20" y="4416552"/>
            <a:ext cx="841248" cy="365759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650" b="0">
                <a:solidFill>
                  <a:srgbClr val="1F2937"/>
                </a:solidFill>
                <a:latin typeface="Arial"/>
              </a:rPr>
              <a:t>R005 · consultazione dell’atto</a:t>
            </a:r>
          </a:p>
        </p:txBody>
      </p:sp>
      <p:cxnSp>
        <p:nvCxnSpPr>
          <p:cNvPr id="58" name="Connector 57"/>
          <p:cNvCxnSpPr>
            <a:stCxn id="56" idx="3"/>
            <a:endCxn id="57" idx="1"/>
          </p:cNvCxnSpPr>
          <p:nvPr/>
        </p:nvCxnSpPr>
        <p:spPr>
          <a:xfrm flipV="1">
            <a:off x="9555479" y="4599431"/>
            <a:ext cx="91441" cy="1"/>
          </a:xfrm>
          <a:prstGeom prst="line">
            <a:avLst/>
          </a:prstGeom>
          <a:ln w="1143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7498079" y="493776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1F2937"/>
                </a:solidFill>
                <a:latin typeface="Arial"/>
              </a:rPr>
              <a:t>Importazione dei dati</a:t>
            </a:r>
          </a:p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>transcodifica di comuni, province e nazioni, …</a:t>
            </a:r>
          </a:p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>idAnsc · testo · soggetti</a:t>
            </a:r>
          </a:p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>idSoggettoAnsc · idSoggettoAnpr · idAnpr · 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98079" y="5769864"/>
            <a:ext cx="2057400" cy="420624"/>
          </a:xfrm>
          <a:prstGeom prst="roundRect">
            <a:avLst>
              <a:gd name="adj" fmla="val 12000"/>
            </a:avLst>
          </a:prstGeom>
          <a:solidFill>
            <a:srgbClr val="E9EAEC"/>
          </a:solidFill>
          <a:ln w="1397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50" b="1">
                <a:solidFill>
                  <a:srgbClr val="B03A48"/>
                </a:solidFill>
                <a:latin typeface="Arial"/>
              </a:rPr>
              <a:t>?! Conclusione del processo in SIPO</a:t>
            </a:r>
          </a:p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da definire</a:t>
            </a:r>
          </a:p>
        </p:txBody>
      </p:sp>
      <p:cxnSp>
        <p:nvCxnSpPr>
          <p:cNvPr id="61" name="Connector 60"/>
          <p:cNvCxnSpPr>
            <a:stCxn id="49" idx="2"/>
            <a:endCxn id="50" idx="0"/>
          </p:cNvCxnSpPr>
          <p:nvPr/>
        </p:nvCxnSpPr>
        <p:spPr>
          <a:xfrm flipH="1">
            <a:off x="8526779" y="1847088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stCxn id="50" idx="2"/>
            <a:endCxn id="51" idx="0"/>
          </p:cNvCxnSpPr>
          <p:nvPr/>
        </p:nvCxnSpPr>
        <p:spPr>
          <a:xfrm flipH="1">
            <a:off x="8526779" y="2532888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8526779" y="3108960"/>
            <a:ext cx="2926080" cy="118872"/>
          </a:xfrm>
          <a:custGeom>
            <a:avLst/>
            <a:gdLst/>
            <a:ahLst/>
            <a:cxnLst/>
            <a:rect l="l" t="t" r="r" b="b"/>
            <a:pathLst>
              <a:path w="2926080" h="118872">
                <a:moveTo>
                  <a:pt x="0" y="0"/>
                </a:moveTo>
                <a:lnTo>
                  <a:pt x="0" y="59436"/>
                </a:lnTo>
                <a:lnTo>
                  <a:pt x="2926080" y="59436"/>
                </a:lnTo>
                <a:lnTo>
                  <a:pt x="2926080" y="118872"/>
                </a:lnTo>
              </a:path>
            </a:pathLst>
          </a:custGeom>
          <a:noFill/>
          <a:ln w="1397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Freeform 63"/>
          <p:cNvSpPr/>
          <p:nvPr/>
        </p:nvSpPr>
        <p:spPr>
          <a:xfrm>
            <a:off x="11452859" y="3685031"/>
            <a:ext cx="1897381" cy="118873"/>
          </a:xfrm>
          <a:custGeom>
            <a:avLst/>
            <a:gdLst/>
            <a:ahLst/>
            <a:cxnLst/>
            <a:rect l="l" t="t" r="r" b="b"/>
            <a:pathLst>
              <a:path w="1897381" h="118873">
                <a:moveTo>
                  <a:pt x="0" y="0"/>
                </a:moveTo>
                <a:lnTo>
                  <a:pt x="0" y="59437"/>
                </a:lnTo>
                <a:lnTo>
                  <a:pt x="1897381" y="59437"/>
                </a:lnTo>
                <a:lnTo>
                  <a:pt x="1897381" y="118873"/>
                </a:lnTo>
              </a:path>
            </a:pathLst>
          </a:custGeom>
          <a:noFill/>
          <a:ln w="1397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Freeform 64"/>
          <p:cNvSpPr/>
          <p:nvPr/>
        </p:nvSpPr>
        <p:spPr>
          <a:xfrm>
            <a:off x="8526779" y="4261104"/>
            <a:ext cx="4823461" cy="118872"/>
          </a:xfrm>
          <a:custGeom>
            <a:avLst/>
            <a:gdLst/>
            <a:ahLst/>
            <a:cxnLst/>
            <a:rect l="l" t="t" r="r" b="b"/>
            <a:pathLst>
              <a:path w="4823461" h="118872">
                <a:moveTo>
                  <a:pt x="4823461" y="0"/>
                </a:moveTo>
                <a:lnTo>
                  <a:pt x="4823461" y="59436"/>
                </a:lnTo>
                <a:lnTo>
                  <a:pt x="0" y="59436"/>
                </a:lnTo>
                <a:lnTo>
                  <a:pt x="0" y="118872"/>
                </a:lnTo>
              </a:path>
            </a:pathLst>
          </a:custGeom>
          <a:noFill/>
          <a:ln w="13970">
            <a:solidFill>
              <a:srgbClr val="4B5563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>
            <a:stCxn id="56" idx="2"/>
            <a:endCxn id="59" idx="0"/>
          </p:cNvCxnSpPr>
          <p:nvPr/>
        </p:nvCxnSpPr>
        <p:spPr>
          <a:xfrm flipH="1">
            <a:off x="8526779" y="4818888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>
            <a:stCxn id="59" idx="2"/>
            <a:endCxn id="60" idx="0"/>
          </p:cNvCxnSpPr>
          <p:nvPr/>
        </p:nvCxnSpPr>
        <p:spPr>
          <a:xfrm flipH="1">
            <a:off x="8526779" y="5650992"/>
            <a:ext cx="0" cy="118872"/>
          </a:xfrm>
          <a:prstGeom prst="line">
            <a:avLst/>
          </a:prstGeom>
          <a:ln w="15875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7315200" y="731520"/>
            <a:ext cx="0" cy="722375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498079" y="6510527"/>
            <a:ext cx="201168" cy="109728"/>
          </a:xfrm>
          <a:prstGeom prst="rect">
            <a:avLst/>
          </a:prstGeom>
          <a:solidFill>
            <a:srgbClr val="DBE6F5"/>
          </a:solidFill>
          <a:ln w="13970">
            <a:solidFill>
              <a:srgbClr val="2F6B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754111" y="6496812"/>
            <a:ext cx="301752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passo in SIPO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81359" y="6510527"/>
            <a:ext cx="201168" cy="109728"/>
          </a:xfrm>
          <a:prstGeom prst="rect">
            <a:avLst/>
          </a:prstGeom>
          <a:solidFill>
            <a:srgbClr val="FFFFFF"/>
          </a:solidFill>
          <a:ln w="1397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1137391" y="6496812"/>
            <a:ext cx="301752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servizio chiamato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98079" y="6693407"/>
            <a:ext cx="201168" cy="109728"/>
          </a:xfrm>
          <a:prstGeom prst="rect">
            <a:avLst/>
          </a:prstGeom>
          <a:solidFill>
            <a:srgbClr val="F6DFE1"/>
          </a:solidFill>
          <a:ln w="13970">
            <a:solidFill>
              <a:srgbClr val="B0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54111" y="6679692"/>
            <a:ext cx="301752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messaggio all’USC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881359" y="6693407"/>
            <a:ext cx="201168" cy="109728"/>
          </a:xfrm>
          <a:prstGeom prst="rect">
            <a:avLst/>
          </a:prstGeom>
          <a:solidFill>
            <a:srgbClr val="FDF1D6"/>
          </a:solidFill>
          <a:ln w="1397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137391" y="6679692"/>
            <a:ext cx="301752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stato dell’atto (YY = codice da assegnare)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79" y="6876288"/>
            <a:ext cx="201168" cy="109728"/>
          </a:xfrm>
          <a:prstGeom prst="rect">
            <a:avLst/>
          </a:prstGeom>
          <a:solidFill>
            <a:srgbClr val="ECE5F5"/>
          </a:solidFill>
          <a:ln w="13970">
            <a:solidFill>
              <a:srgbClr val="7B5A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754111" y="6862572"/>
            <a:ext cx="301752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passo sulla web app ANSC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881359" y="6876288"/>
            <a:ext cx="201168" cy="109728"/>
          </a:xfrm>
          <a:prstGeom prst="rect">
            <a:avLst/>
          </a:prstGeom>
          <a:solidFill>
            <a:srgbClr val="E9EAEC"/>
          </a:solidFill>
          <a:ln w="1397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137391" y="6862572"/>
            <a:ext cx="3017520" cy="13716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  <a:latin typeface="Arial"/>
              </a:rPr>
              <a:t>tratteggio: condizionato o da definire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429</Words>
  <Application>Microsoft Macintosh PowerPoint</Application>
  <PresentationFormat>Personalizzato</PresentationFormat>
  <Paragraphs>67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Bernardo Puccetti</cp:lastModifiedBy>
  <cp:revision>2</cp:revision>
  <dcterms:created xsi:type="dcterms:W3CDTF">2013-01-27T09:14:16Z</dcterms:created>
  <dcterms:modified xsi:type="dcterms:W3CDTF">2026-10-22T20:30:04Z</dcterms:modified>
  <cp:category/>
</cp:coreProperties>
</file>