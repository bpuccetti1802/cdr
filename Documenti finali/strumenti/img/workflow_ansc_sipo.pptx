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6858000" cy="93265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55"/>
    <p:restoredTop sz="94659"/>
  </p:normalViewPr>
  <p:slideViewPr>
    <p:cSldViewPr snapToGrid="0" snapToObjects="1">
      <p:cViewPr varScale="1">
        <p:scale>
          <a:sx n="108" d="100"/>
          <a:sy n="108" d="100"/>
        </p:scale>
        <p:origin x="84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164592"/>
            <a:ext cx="6400800" cy="32004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lang="it-IT" sz="1500" b="1" i="0" noProof="0" dirty="0">
                <a:solidFill>
                  <a:srgbClr val="1F3A5F"/>
                </a:solidFill>
                <a:latin typeface="Arial"/>
              </a:rPr>
              <a:t>Il processo di gestione dei dati ANSC in SIPO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75488"/>
            <a:ext cx="6400800" cy="2743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lang="it-IT" sz="850" b="0" i="1" noProof="0" dirty="0">
                <a:solidFill>
                  <a:srgbClr val="6B7280"/>
                </a:solidFill>
                <a:latin typeface="Arial"/>
              </a:rPr>
              <a:t>Le pagine di SIPO, i servizi che chiamano e i cambi di stato dell’atto in ANSC (ANSC_11) e in SIPO (ID_STATO_PRATICA)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850392"/>
            <a:ext cx="2331720" cy="2286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lang="it-IT" sz="900" b="1" i="0" noProof="0" dirty="0">
                <a:solidFill>
                  <a:srgbClr val="1F2937"/>
                </a:solidFill>
                <a:latin typeface="Arial"/>
              </a:rPr>
              <a:t>Pagina di SIPO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" y="1088136"/>
            <a:ext cx="233172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670048" y="818388"/>
            <a:ext cx="1371600" cy="29546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lang="it-IT" sz="900" b="1" i="0" noProof="0" dirty="0">
                <a:solidFill>
                  <a:srgbClr val="1F2937"/>
                </a:solidFill>
                <a:latin typeface="Arial"/>
              </a:rPr>
              <a:t>Servizio chiamato o servizi SIPO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70048" y="1088136"/>
            <a:ext cx="137160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151376" y="850392"/>
            <a:ext cx="1325880" cy="2286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lang="it-IT" sz="900" b="1" i="0" noProof="0" dirty="0">
                <a:solidFill>
                  <a:srgbClr val="1F2937"/>
                </a:solidFill>
                <a:latin typeface="Arial"/>
              </a:rPr>
              <a:t>Stato in ANSC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51376" y="1088136"/>
            <a:ext cx="132588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96712" y="850392"/>
            <a:ext cx="932688" cy="2286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lang="it-IT" sz="900" b="1" i="0" noProof="0" dirty="0">
                <a:solidFill>
                  <a:srgbClr val="1F2937"/>
                </a:solidFill>
                <a:latin typeface="Arial"/>
              </a:rPr>
              <a:t>Stato in SIPO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96712" y="1088136"/>
            <a:ext cx="932688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28600" y="1188720"/>
            <a:ext cx="2331720" cy="512064"/>
          </a:xfrm>
          <a:prstGeom prst="roundRect">
            <a:avLst>
              <a:gd name="adj" fmla="val 12000"/>
            </a:avLst>
          </a:prstGeom>
          <a:solidFill>
            <a:srgbClr val="E9EAEC"/>
          </a:solidFill>
          <a:ln w="1397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it-IT" sz="900" b="1" noProof="0" dirty="0">
                <a:solidFill>
                  <a:srgbClr val="1F2937"/>
                </a:solidFill>
                <a:latin typeface="Arial"/>
              </a:rPr>
              <a:t>Accesso e scelte iniziali</a:t>
            </a:r>
          </a:p>
          <a:p>
            <a:pPr algn="ctr"/>
            <a:r>
              <a:rPr lang="it-IT" sz="700" b="0" noProof="0" dirty="0">
                <a:solidFill>
                  <a:srgbClr val="6B7280"/>
                </a:solidFill>
                <a:latin typeface="Arial"/>
              </a:rPr>
              <a:t>Login · tipologia di gestione · tipologia di atto (invariati)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" y="1801368"/>
            <a:ext cx="2331720" cy="512064"/>
          </a:xfrm>
          <a:prstGeom prst="roundRect">
            <a:avLst>
              <a:gd name="adj" fmla="val 12000"/>
            </a:avLst>
          </a:prstGeom>
          <a:solidFill>
            <a:srgbClr val="DBE6F5"/>
          </a:solidFill>
          <a:ln w="13970">
            <a:solidFill>
              <a:srgbClr val="2F6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it-IT" sz="900" b="1" noProof="0" dirty="0">
                <a:solidFill>
                  <a:srgbClr val="1F2937"/>
                </a:solidFill>
                <a:latin typeface="Arial"/>
              </a:rPr>
              <a:t>Ricerca dati anagrafici</a:t>
            </a:r>
          </a:p>
          <a:p>
            <a:pPr algn="ctr"/>
            <a:r>
              <a:rPr lang="it-IT" sz="700" b="0" noProof="0" dirty="0">
                <a:solidFill>
                  <a:srgbClr val="6B7280"/>
                </a:solidFill>
                <a:latin typeface="Arial"/>
              </a:rPr>
              <a:t>soggetti e intestatario da anagrafe locale SIPO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1883664"/>
            <a:ext cx="1371600" cy="347472"/>
          </a:xfrm>
          <a:prstGeom prst="rect">
            <a:avLst/>
          </a:prstGeom>
          <a:solidFill>
            <a:srgbClr val="FFFFFF"/>
          </a:solidFill>
          <a:ln w="1397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it-IT" sz="750" noProof="0" dirty="0">
                <a:solidFill>
                  <a:srgbClr val="1F2937"/>
                </a:solidFill>
                <a:latin typeface="Arial"/>
              </a:rPr>
              <a:t>Anagrafe Locale SIPO</a:t>
            </a:r>
            <a:endParaRPr lang="it-IT" sz="750" b="0" noProof="0" dirty="0">
              <a:solidFill>
                <a:srgbClr val="1F2937"/>
              </a:solidFill>
              <a:latin typeface="Arial"/>
            </a:endParaRPr>
          </a:p>
        </p:txBody>
      </p:sp>
      <p:cxnSp>
        <p:nvCxnSpPr>
          <p:cNvPr id="15" name="Connector 14"/>
          <p:cNvCxnSpPr>
            <a:stCxn id="13" idx="3"/>
            <a:endCxn id="14" idx="1"/>
          </p:cNvCxnSpPr>
          <p:nvPr/>
        </p:nvCxnSpPr>
        <p:spPr>
          <a:xfrm flipV="1">
            <a:off x="2560320" y="2057400"/>
            <a:ext cx="109728" cy="0"/>
          </a:xfrm>
          <a:prstGeom prst="line">
            <a:avLst/>
          </a:prstGeom>
          <a:ln w="1143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28600" y="2414016"/>
            <a:ext cx="2331720" cy="512064"/>
          </a:xfrm>
          <a:prstGeom prst="roundRect">
            <a:avLst>
              <a:gd name="adj" fmla="val 12000"/>
            </a:avLst>
          </a:prstGeom>
          <a:solidFill>
            <a:srgbClr val="DBE6F5"/>
          </a:solidFill>
          <a:ln w="13970">
            <a:solidFill>
              <a:srgbClr val="2F6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it-IT" sz="900" b="1" noProof="0" dirty="0">
                <a:solidFill>
                  <a:srgbClr val="1F2937"/>
                </a:solidFill>
                <a:latin typeface="Arial"/>
              </a:rPr>
              <a:t>Dettaglio (Creazione atto)</a:t>
            </a:r>
          </a:p>
          <a:p>
            <a:pPr algn="ctr"/>
            <a:r>
              <a:rPr lang="it-IT" sz="700" b="0" noProof="0" dirty="0">
                <a:solidFill>
                  <a:srgbClr val="6B7280"/>
                </a:solidFill>
                <a:latin typeface="Arial"/>
              </a:rPr>
              <a:t>i tre codici  identificativi per soggetto; non si prosegue se mancano dati obbligatori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70048" y="2496312"/>
            <a:ext cx="1371600" cy="347472"/>
          </a:xfrm>
          <a:prstGeom prst="rect">
            <a:avLst/>
          </a:prstGeom>
          <a:solidFill>
            <a:srgbClr val="FFFFFF"/>
          </a:solidFill>
          <a:ln w="1397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it-IT" sz="750" b="0" noProof="0" dirty="0">
                <a:solidFill>
                  <a:srgbClr val="1F2937"/>
                </a:solidFill>
                <a:latin typeface="Arial"/>
              </a:rPr>
              <a:t>R005 · per ciascun soggetto</a:t>
            </a:r>
            <a:br>
              <a:rPr lang="it-IT" sz="750" b="0" noProof="0" dirty="0">
                <a:solidFill>
                  <a:srgbClr val="1F2937"/>
                </a:solidFill>
                <a:latin typeface="Arial"/>
              </a:rPr>
            </a:br>
            <a:r>
              <a:rPr lang="it-IT" sz="750" b="0" noProof="0" dirty="0">
                <a:solidFill>
                  <a:srgbClr val="1F2937"/>
                </a:solidFill>
                <a:latin typeface="Arial"/>
              </a:rPr>
              <a:t>obbligatoria la chiamata R005 per passare pagina</a:t>
            </a:r>
          </a:p>
        </p:txBody>
      </p:sp>
      <p:cxnSp>
        <p:nvCxnSpPr>
          <p:cNvPr id="18" name="Connector 17"/>
          <p:cNvCxnSpPr>
            <a:stCxn id="16" idx="3"/>
            <a:endCxn id="17" idx="1"/>
          </p:cNvCxnSpPr>
          <p:nvPr/>
        </p:nvCxnSpPr>
        <p:spPr>
          <a:xfrm flipV="1">
            <a:off x="2560320" y="2670048"/>
            <a:ext cx="109728" cy="0"/>
          </a:xfrm>
          <a:prstGeom prst="line">
            <a:avLst/>
          </a:prstGeom>
          <a:ln w="1143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12599" y="3015486"/>
            <a:ext cx="2331720" cy="570486"/>
          </a:xfrm>
          <a:prstGeom prst="roundRect">
            <a:avLst>
              <a:gd name="adj" fmla="val 12000"/>
            </a:avLst>
          </a:prstGeom>
          <a:solidFill>
            <a:srgbClr val="DBE6F5"/>
          </a:solidFill>
          <a:ln w="13970">
            <a:solidFill>
              <a:srgbClr val="2F6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it-IT" sz="900" b="1" noProof="0" dirty="0">
                <a:solidFill>
                  <a:srgbClr val="1F2937"/>
                </a:solidFill>
                <a:latin typeface="Arial"/>
              </a:rPr>
              <a:t>Riepilogo Atto</a:t>
            </a:r>
          </a:p>
          <a:p>
            <a:pPr algn="ctr"/>
            <a:r>
              <a:rPr lang="it-IT" sz="700" noProof="0" dirty="0">
                <a:solidFill>
                  <a:srgbClr val="6B7280"/>
                </a:solidFill>
                <a:latin typeface="Arial"/>
              </a:rPr>
              <a:t>Recupero/Individuazione codice UC</a:t>
            </a:r>
            <a:endParaRPr lang="it-IT" sz="700" b="1" noProof="0" dirty="0">
              <a:solidFill>
                <a:srgbClr val="1F2937"/>
              </a:solidFill>
              <a:latin typeface="Arial"/>
            </a:endParaRPr>
          </a:p>
          <a:p>
            <a:pPr algn="ctr"/>
            <a:r>
              <a:rPr lang="it-IT" sz="800" noProof="0" dirty="0">
                <a:solidFill>
                  <a:srgbClr val="1F2937"/>
                </a:solidFill>
                <a:latin typeface="Arial"/>
              </a:rPr>
              <a:t>Elaborazione dati e predisposizione Atto SIPO</a:t>
            </a:r>
            <a:endParaRPr lang="it-IT" sz="900" b="1" noProof="0" dirty="0">
              <a:solidFill>
                <a:srgbClr val="1F2937"/>
              </a:solidFill>
              <a:latin typeface="Arial"/>
            </a:endParaRPr>
          </a:p>
          <a:p>
            <a:pPr algn="ctr"/>
            <a:r>
              <a:rPr lang="it-IT" sz="700" b="0" noProof="0" dirty="0">
                <a:solidFill>
                  <a:srgbClr val="6B7280"/>
                </a:solidFill>
                <a:latin typeface="Arial"/>
              </a:rPr>
              <a:t>firmatari, eventuali dati mancanti</a:t>
            </a:r>
            <a:r>
              <a:rPr lang="it-IT" sz="700" noProof="0" dirty="0">
                <a:solidFill>
                  <a:srgbClr val="6B7280"/>
                </a:solidFill>
                <a:latin typeface="Arial"/>
              </a:rPr>
              <a:t>, allegati</a:t>
            </a:r>
            <a:endParaRPr lang="it-IT" sz="700" b="0" noProof="0" dirty="0">
              <a:solidFill>
                <a:srgbClr val="6B7280"/>
              </a:solidFill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670048" y="3108960"/>
            <a:ext cx="1371600" cy="347472"/>
          </a:xfrm>
          <a:prstGeom prst="rect">
            <a:avLst/>
          </a:prstGeom>
          <a:solidFill>
            <a:srgbClr val="FFFFFF"/>
          </a:solidFill>
          <a:ln w="1397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it-IT" sz="750" b="0" noProof="0" dirty="0">
                <a:solidFill>
                  <a:srgbClr val="1F2937"/>
                </a:solidFill>
                <a:latin typeface="Arial"/>
              </a:rPr>
              <a:t>Eventuale </a:t>
            </a:r>
            <a:r>
              <a:rPr lang="it-IT" sz="750" b="0" noProof="0" dirty="0" err="1">
                <a:solidFill>
                  <a:srgbClr val="1F2937"/>
                </a:solidFill>
                <a:latin typeface="Arial"/>
              </a:rPr>
              <a:t>preverifica</a:t>
            </a:r>
            <a:r>
              <a:rPr lang="it-IT" sz="750" b="0" noProof="0" dirty="0">
                <a:solidFill>
                  <a:srgbClr val="1F2937"/>
                </a:solidFill>
                <a:latin typeface="Arial"/>
              </a:rPr>
              <a:t> vedere decodifica ANSC_03</a:t>
            </a:r>
          </a:p>
        </p:txBody>
      </p:sp>
      <p:cxnSp>
        <p:nvCxnSpPr>
          <p:cNvPr id="21" name="Connector 20"/>
          <p:cNvCxnSpPr>
            <a:cxnSpLocks/>
            <a:stCxn id="19" idx="3"/>
            <a:endCxn id="20" idx="1"/>
          </p:cNvCxnSpPr>
          <p:nvPr/>
        </p:nvCxnSpPr>
        <p:spPr>
          <a:xfrm flipV="1">
            <a:off x="2544319" y="3282696"/>
            <a:ext cx="125729" cy="18033"/>
          </a:xfrm>
          <a:prstGeom prst="line">
            <a:avLst/>
          </a:prstGeom>
          <a:ln w="1143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28600" y="3678640"/>
            <a:ext cx="2331720" cy="512064"/>
          </a:xfrm>
          <a:prstGeom prst="roundRect">
            <a:avLst>
              <a:gd name="adj" fmla="val 12000"/>
            </a:avLst>
          </a:prstGeom>
          <a:solidFill>
            <a:srgbClr val="DBE6F5"/>
          </a:solidFill>
          <a:ln w="13970">
            <a:solidFill>
              <a:srgbClr val="2F6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it-IT" sz="900" b="1" noProof="0" dirty="0">
                <a:solidFill>
                  <a:srgbClr val="1F2937"/>
                </a:solidFill>
                <a:latin typeface="Arial"/>
              </a:rPr>
              <a:t>Anteprima SIPO</a:t>
            </a:r>
          </a:p>
          <a:p>
            <a:pPr algn="ctr"/>
            <a:r>
              <a:rPr lang="it-IT" sz="600" b="1" noProof="0" dirty="0">
                <a:solidFill>
                  <a:srgbClr val="1F2937"/>
                </a:solidFill>
                <a:latin typeface="Arial"/>
              </a:rPr>
              <a:t>Serve il numero comunale</a:t>
            </a:r>
          </a:p>
          <a:p>
            <a:pPr algn="ctr"/>
            <a:r>
              <a:rPr lang="it-IT" sz="700" b="0" noProof="0" dirty="0" err="1">
                <a:solidFill>
                  <a:srgbClr val="6B7280"/>
                </a:solidFill>
                <a:latin typeface="Arial"/>
              </a:rPr>
              <a:t>Costruiisce</a:t>
            </a:r>
            <a:r>
              <a:rPr lang="it-IT" sz="700" b="0" noProof="0" dirty="0">
                <a:solidFill>
                  <a:srgbClr val="6B7280"/>
                </a:solidFill>
                <a:latin typeface="Arial"/>
              </a:rPr>
              <a:t> il testo dell’atto </a:t>
            </a:r>
            <a:br>
              <a:rPr lang="it-IT" sz="700" b="0" noProof="0" dirty="0">
                <a:solidFill>
                  <a:srgbClr val="6B7280"/>
                </a:solidFill>
                <a:latin typeface="Arial"/>
              </a:rPr>
            </a:br>
            <a:r>
              <a:rPr lang="it-IT" sz="700" b="0" noProof="0" dirty="0">
                <a:solidFill>
                  <a:srgbClr val="6B7280"/>
                </a:solidFill>
                <a:latin typeface="Arial"/>
              </a:rPr>
              <a:t>Inserire bottone VALIDA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70048" y="3639313"/>
            <a:ext cx="1371600" cy="429767"/>
          </a:xfrm>
          <a:prstGeom prst="rect">
            <a:avLst/>
          </a:prstGeom>
          <a:solidFill>
            <a:srgbClr val="FFFFFF"/>
          </a:solidFill>
          <a:ln w="1397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it-IT" sz="800" noProof="0" dirty="0">
                <a:solidFill>
                  <a:schemeClr val="tx1"/>
                </a:solidFill>
                <a:latin typeface="Arial"/>
              </a:rPr>
              <a:t>Obbligatoria utenza e </a:t>
            </a:r>
            <a:r>
              <a:rPr lang="it-IT" sz="800" noProof="0" dirty="0" err="1">
                <a:solidFill>
                  <a:schemeClr val="tx1"/>
                </a:solidFill>
                <a:latin typeface="Arial"/>
              </a:rPr>
              <a:t>disponibillità</a:t>
            </a:r>
            <a:r>
              <a:rPr lang="it-IT" sz="800" noProof="0" dirty="0">
                <a:solidFill>
                  <a:schemeClr val="tx1"/>
                </a:solidFill>
                <a:latin typeface="Arial"/>
              </a:rPr>
              <a:t> di PIN e OTP del servizio di firma remota</a:t>
            </a:r>
          </a:p>
        </p:txBody>
      </p:sp>
      <p:cxnSp>
        <p:nvCxnSpPr>
          <p:cNvPr id="24" name="Connector 23"/>
          <p:cNvCxnSpPr>
            <a:cxnSpLocks/>
            <a:stCxn id="22" idx="3"/>
            <a:endCxn id="23" idx="1"/>
          </p:cNvCxnSpPr>
          <p:nvPr/>
        </p:nvCxnSpPr>
        <p:spPr>
          <a:xfrm flipV="1">
            <a:off x="2560320" y="3854197"/>
            <a:ext cx="109728" cy="80475"/>
          </a:xfrm>
          <a:prstGeom prst="line">
            <a:avLst/>
          </a:prstGeom>
          <a:ln w="1143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28600" y="4251960"/>
            <a:ext cx="2331720" cy="512064"/>
          </a:xfrm>
          <a:prstGeom prst="roundRect">
            <a:avLst>
              <a:gd name="adj" fmla="val 12000"/>
            </a:avLst>
          </a:prstGeom>
          <a:solidFill>
            <a:schemeClr val="accent6">
              <a:lumMod val="40000"/>
              <a:lumOff val="60000"/>
            </a:schemeClr>
          </a:solidFill>
          <a:ln w="13970">
            <a:solidFill>
              <a:srgbClr val="2F6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it-IT" sz="900" b="1" noProof="0" dirty="0">
                <a:solidFill>
                  <a:srgbClr val="1F2937"/>
                </a:solidFill>
                <a:latin typeface="Arial"/>
              </a:rPr>
              <a:t>Anteprima · Validazione (nuova pagina)</a:t>
            </a:r>
          </a:p>
          <a:p>
            <a:pPr algn="ctr"/>
            <a:r>
              <a:rPr lang="it-IT" sz="700" b="0" noProof="0" dirty="0">
                <a:solidFill>
                  <a:srgbClr val="6B7280"/>
                </a:solidFill>
                <a:latin typeface="Arial"/>
              </a:rPr>
              <a:t>validazione di metadati e allegati; si salvano gli idAnsc</a:t>
            </a:r>
            <a:br>
              <a:rPr lang="it-IT" sz="700" b="0" noProof="0" dirty="0">
                <a:solidFill>
                  <a:srgbClr val="6B7280"/>
                </a:solidFill>
                <a:latin typeface="Arial"/>
              </a:rPr>
            </a:br>
            <a:r>
              <a:rPr lang="it-IT" sz="700" b="0" noProof="0" dirty="0">
                <a:solidFill>
                  <a:srgbClr val="6B7280"/>
                </a:solidFill>
                <a:latin typeface="Arial"/>
              </a:rPr>
              <a:t>Preparazione Payload + Invio R009</a:t>
            </a:r>
            <a:br>
              <a:rPr lang="it-IT" sz="700" b="0" noProof="0" dirty="0">
                <a:solidFill>
                  <a:srgbClr val="6B7280"/>
                </a:solidFill>
                <a:latin typeface="Arial"/>
              </a:rPr>
            </a:br>
            <a:r>
              <a:rPr lang="it-IT" sz="700" b="0" noProof="0" dirty="0">
                <a:solidFill>
                  <a:srgbClr val="6B7280"/>
                </a:solidFill>
                <a:latin typeface="Arial"/>
              </a:rPr>
              <a:t>Gestione errori e forzature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0048" y="4334256"/>
            <a:ext cx="1371600" cy="347472"/>
          </a:xfrm>
          <a:prstGeom prst="rect">
            <a:avLst/>
          </a:prstGeom>
          <a:solidFill>
            <a:srgbClr val="FFFFFF"/>
          </a:solidFill>
          <a:ln w="1397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it-IT" sz="750" b="0" noProof="0" dirty="0">
                <a:solidFill>
                  <a:srgbClr val="1F2937"/>
                </a:solidFill>
                <a:latin typeface="Arial"/>
              </a:rPr>
              <a:t>R009 /validazione/evento</a:t>
            </a:r>
          </a:p>
        </p:txBody>
      </p:sp>
      <p:cxnSp>
        <p:nvCxnSpPr>
          <p:cNvPr id="27" name="Connector 26"/>
          <p:cNvCxnSpPr>
            <a:stCxn id="25" idx="3"/>
            <a:endCxn id="26" idx="1"/>
          </p:cNvCxnSpPr>
          <p:nvPr/>
        </p:nvCxnSpPr>
        <p:spPr>
          <a:xfrm flipV="1">
            <a:off x="2560320" y="4507992"/>
            <a:ext cx="109728" cy="0"/>
          </a:xfrm>
          <a:prstGeom prst="line">
            <a:avLst/>
          </a:prstGeom>
          <a:ln w="1143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28600" y="4864608"/>
            <a:ext cx="2331720" cy="512064"/>
          </a:xfrm>
          <a:prstGeom prst="roundRect">
            <a:avLst>
              <a:gd name="adj" fmla="val 12000"/>
            </a:avLst>
          </a:prstGeom>
          <a:solidFill>
            <a:schemeClr val="accent6">
              <a:lumMod val="40000"/>
              <a:lumOff val="60000"/>
            </a:schemeClr>
          </a:solidFill>
          <a:ln w="13970">
            <a:solidFill>
              <a:srgbClr val="2F6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it-IT" sz="900" b="1" noProof="0" dirty="0">
                <a:solidFill>
                  <a:srgbClr val="1F2937"/>
                </a:solidFill>
                <a:latin typeface="Arial"/>
              </a:rPr>
              <a:t>Anteprima · firme dei dichiaranti </a:t>
            </a:r>
          </a:p>
          <a:p>
            <a:pPr algn="ctr"/>
            <a:r>
              <a:rPr lang="it-IT" sz="900" b="1" noProof="0" dirty="0">
                <a:solidFill>
                  <a:srgbClr val="1F2937"/>
                </a:solidFill>
                <a:latin typeface="Arial"/>
              </a:rPr>
              <a:t>(nuova pagina)</a:t>
            </a:r>
          </a:p>
          <a:p>
            <a:pPr algn="ctr"/>
            <a:r>
              <a:rPr lang="it-IT" sz="700" b="0" noProof="0" dirty="0">
                <a:solidFill>
                  <a:srgbClr val="6B7280"/>
                </a:solidFill>
                <a:latin typeface="Arial"/>
              </a:rPr>
              <a:t>firma digitale o scansione del cartaceo firmato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70048" y="4946904"/>
            <a:ext cx="1371600" cy="347472"/>
          </a:xfrm>
          <a:prstGeom prst="rect">
            <a:avLst/>
          </a:prstGeom>
          <a:solidFill>
            <a:srgbClr val="FFFFFF"/>
          </a:solidFill>
          <a:ln w="1397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it-IT" sz="750" b="0" noProof="0" dirty="0">
                <a:solidFill>
                  <a:srgbClr val="1F2937"/>
                </a:solidFill>
                <a:latin typeface="Arial"/>
              </a:rPr>
              <a:t>R006 cartacea · R006 / R012 elettronica</a:t>
            </a:r>
          </a:p>
        </p:txBody>
      </p:sp>
      <p:cxnSp>
        <p:nvCxnSpPr>
          <p:cNvPr id="30" name="Connector 29"/>
          <p:cNvCxnSpPr>
            <a:stCxn id="28" idx="3"/>
            <a:endCxn id="29" idx="1"/>
          </p:cNvCxnSpPr>
          <p:nvPr/>
        </p:nvCxnSpPr>
        <p:spPr>
          <a:xfrm flipV="1">
            <a:off x="2560320" y="5120640"/>
            <a:ext cx="109728" cy="0"/>
          </a:xfrm>
          <a:prstGeom prst="line">
            <a:avLst/>
          </a:prstGeom>
          <a:ln w="1143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28600" y="5477256"/>
            <a:ext cx="2331720" cy="512064"/>
          </a:xfrm>
          <a:prstGeom prst="roundRect">
            <a:avLst>
              <a:gd name="adj" fmla="val 12000"/>
            </a:avLst>
          </a:prstGeom>
          <a:solidFill>
            <a:schemeClr val="accent6">
              <a:lumMod val="40000"/>
              <a:lumOff val="60000"/>
            </a:schemeClr>
          </a:solidFill>
          <a:ln w="13970">
            <a:solidFill>
              <a:srgbClr val="2F6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it-IT" sz="900" b="1" noProof="0" dirty="0">
                <a:solidFill>
                  <a:srgbClr val="1F2937"/>
                </a:solidFill>
                <a:latin typeface="Arial"/>
              </a:rPr>
              <a:t>Anteprima · conformità</a:t>
            </a:r>
          </a:p>
          <a:p>
            <a:pPr algn="ctr"/>
            <a:r>
              <a:rPr lang="it-IT" sz="700" b="0" noProof="0" dirty="0">
                <a:solidFill>
                  <a:srgbClr val="6B7280"/>
                </a:solidFill>
                <a:latin typeface="Arial"/>
              </a:rPr>
              <a:t>attestazione di conformità firmata dall’USC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70048" y="5559552"/>
            <a:ext cx="1371600" cy="347472"/>
          </a:xfrm>
          <a:prstGeom prst="rect">
            <a:avLst/>
          </a:prstGeom>
          <a:solidFill>
            <a:srgbClr val="FFFFFF"/>
          </a:solidFill>
          <a:ln w="1397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it-IT" sz="750" b="0" noProof="0" dirty="0">
                <a:solidFill>
                  <a:srgbClr val="1F2937"/>
                </a:solidFill>
                <a:latin typeface="Arial"/>
              </a:rPr>
              <a:t>R007 /attestazione/firma</a:t>
            </a:r>
          </a:p>
        </p:txBody>
      </p:sp>
      <p:cxnSp>
        <p:nvCxnSpPr>
          <p:cNvPr id="33" name="Connector 32"/>
          <p:cNvCxnSpPr>
            <a:stCxn id="31" idx="3"/>
            <a:endCxn id="32" idx="1"/>
          </p:cNvCxnSpPr>
          <p:nvPr/>
        </p:nvCxnSpPr>
        <p:spPr>
          <a:xfrm flipV="1">
            <a:off x="2560320" y="5733288"/>
            <a:ext cx="109728" cy="0"/>
          </a:xfrm>
          <a:prstGeom prst="line">
            <a:avLst/>
          </a:prstGeom>
          <a:ln w="1143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20599" y="6077167"/>
            <a:ext cx="2331720" cy="512064"/>
          </a:xfrm>
          <a:prstGeom prst="roundRect">
            <a:avLst>
              <a:gd name="adj" fmla="val 12000"/>
            </a:avLst>
          </a:prstGeom>
          <a:solidFill>
            <a:schemeClr val="accent6">
              <a:lumMod val="75000"/>
            </a:schemeClr>
          </a:solidFill>
          <a:ln w="13970">
            <a:solidFill>
              <a:srgbClr val="2F6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it-IT" sz="900" b="1" noProof="0" dirty="0">
                <a:solidFill>
                  <a:srgbClr val="1F2937"/>
                </a:solidFill>
                <a:latin typeface="Arial"/>
              </a:rPr>
              <a:t>Anteprima · firma dell’USC</a:t>
            </a:r>
            <a:br>
              <a:rPr lang="it-IT" sz="900" b="1" noProof="0" dirty="0">
                <a:solidFill>
                  <a:srgbClr val="1F2937"/>
                </a:solidFill>
                <a:latin typeface="Arial"/>
              </a:rPr>
            </a:br>
            <a:r>
              <a:rPr lang="it-IT" sz="900" b="1" noProof="0" dirty="0">
                <a:solidFill>
                  <a:srgbClr val="1F2937"/>
                </a:solidFill>
                <a:latin typeface="Arial"/>
              </a:rPr>
              <a:t>Bottone «Chiudi»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70048" y="6172200"/>
            <a:ext cx="1371600" cy="347472"/>
          </a:xfrm>
          <a:prstGeom prst="rect">
            <a:avLst/>
          </a:prstGeom>
          <a:solidFill>
            <a:srgbClr val="FFFFFF"/>
          </a:solidFill>
          <a:ln w="1397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it-IT" sz="750" b="0" noProof="0" dirty="0">
                <a:solidFill>
                  <a:srgbClr val="1F2937"/>
                </a:solidFill>
                <a:latin typeface="Arial"/>
              </a:rPr>
              <a:t>R007 /</a:t>
            </a:r>
            <a:r>
              <a:rPr lang="it-IT" sz="750" b="0" noProof="0" dirty="0" err="1">
                <a:solidFill>
                  <a:srgbClr val="1F2937"/>
                </a:solidFill>
                <a:latin typeface="Arial"/>
              </a:rPr>
              <a:t>firma_usc</a:t>
            </a:r>
            <a:endParaRPr lang="it-IT" sz="750" b="0" noProof="0" dirty="0">
              <a:solidFill>
                <a:srgbClr val="1F2937"/>
              </a:solidFill>
              <a:latin typeface="Arial"/>
            </a:endParaRPr>
          </a:p>
          <a:p>
            <a:pPr algn="ctr"/>
            <a:r>
              <a:rPr lang="it-IT" sz="750" noProof="0" dirty="0">
                <a:solidFill>
                  <a:srgbClr val="1F2937"/>
                </a:solidFill>
                <a:latin typeface="Arial"/>
              </a:rPr>
              <a:t>R014 Agg Anagrafe</a:t>
            </a:r>
            <a:endParaRPr lang="it-IT" sz="750" b="0" noProof="0" dirty="0">
              <a:solidFill>
                <a:srgbClr val="1F2937"/>
              </a:solidFill>
              <a:latin typeface="Arial"/>
            </a:endParaRPr>
          </a:p>
          <a:p>
            <a:pPr algn="ctr"/>
            <a:r>
              <a:rPr lang="it-IT" sz="750" noProof="0" dirty="0">
                <a:solidFill>
                  <a:srgbClr val="1F2937"/>
                </a:solidFill>
                <a:latin typeface="Arial"/>
              </a:rPr>
              <a:t>Salva atto SIPO</a:t>
            </a:r>
            <a:endParaRPr lang="it-IT" sz="750" b="0" noProof="0" dirty="0">
              <a:solidFill>
                <a:srgbClr val="1F2937"/>
              </a:solidFill>
              <a:latin typeface="Arial"/>
            </a:endParaRPr>
          </a:p>
        </p:txBody>
      </p:sp>
      <p:cxnSp>
        <p:nvCxnSpPr>
          <p:cNvPr id="36" name="Connector 35"/>
          <p:cNvCxnSpPr>
            <a:stCxn id="34" idx="3"/>
            <a:endCxn id="35" idx="1"/>
          </p:cNvCxnSpPr>
          <p:nvPr/>
        </p:nvCxnSpPr>
        <p:spPr>
          <a:xfrm>
            <a:off x="2552319" y="6333199"/>
            <a:ext cx="117729" cy="12737"/>
          </a:xfrm>
          <a:prstGeom prst="line">
            <a:avLst/>
          </a:prstGeom>
          <a:ln w="1143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670048" y="6784848"/>
            <a:ext cx="1371600" cy="347472"/>
          </a:xfrm>
          <a:prstGeom prst="rect">
            <a:avLst/>
          </a:prstGeom>
          <a:solidFill>
            <a:srgbClr val="FFFFFF"/>
          </a:solidFill>
          <a:ln w="1397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it-IT" sz="750" b="0" noProof="0" dirty="0">
                <a:solidFill>
                  <a:srgbClr val="1F2937"/>
                </a:solidFill>
                <a:latin typeface="Arial"/>
              </a:rPr>
              <a:t>salvataggio in SIPO</a:t>
            </a:r>
          </a:p>
        </p:txBody>
      </p:sp>
      <p:cxnSp>
        <p:nvCxnSpPr>
          <p:cNvPr id="39" name="Connector 38"/>
          <p:cNvCxnSpPr>
            <a:cxnSpLocks/>
            <a:endCxn id="38" idx="1"/>
          </p:cNvCxnSpPr>
          <p:nvPr/>
        </p:nvCxnSpPr>
        <p:spPr>
          <a:xfrm flipV="1">
            <a:off x="2560320" y="6958584"/>
            <a:ext cx="109728" cy="0"/>
          </a:xfrm>
          <a:prstGeom prst="line">
            <a:avLst/>
          </a:prstGeom>
          <a:ln w="1143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228600" y="6751072"/>
            <a:ext cx="2331720" cy="512064"/>
          </a:xfrm>
          <a:prstGeom prst="roundRect">
            <a:avLst>
              <a:gd name="adj" fmla="val 12000"/>
            </a:avLst>
          </a:prstGeom>
          <a:solidFill>
            <a:srgbClr val="DBE6F5"/>
          </a:solidFill>
          <a:ln w="13970">
            <a:solidFill>
              <a:srgbClr val="2F6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it-IT" sz="900" b="1" noProof="0" dirty="0">
                <a:solidFill>
                  <a:srgbClr val="1F2937"/>
                </a:solidFill>
                <a:latin typeface="Arial"/>
              </a:rPr>
              <a:t>Chiudi</a:t>
            </a:r>
          </a:p>
          <a:p>
            <a:pPr algn="ctr"/>
            <a:r>
              <a:rPr lang="it-IT" sz="700" b="0" noProof="0" dirty="0">
                <a:solidFill>
                  <a:srgbClr val="6B7280"/>
                </a:solidFill>
                <a:latin typeface="Arial"/>
              </a:rPr>
              <a:t>l’atto non si modifica più, nemmeno fino alle 24</a:t>
            </a:r>
          </a:p>
        </p:txBody>
      </p:sp>
      <p:cxnSp>
        <p:nvCxnSpPr>
          <p:cNvPr id="41" name="Connector 40"/>
          <p:cNvCxnSpPr>
            <a:stCxn id="12" idx="2"/>
            <a:endCxn id="13" idx="0"/>
          </p:cNvCxnSpPr>
          <p:nvPr/>
        </p:nvCxnSpPr>
        <p:spPr>
          <a:xfrm flipH="1">
            <a:off x="1394460" y="1700784"/>
            <a:ext cx="0" cy="100584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>
            <a:stCxn id="13" idx="2"/>
            <a:endCxn id="16" idx="0"/>
          </p:cNvCxnSpPr>
          <p:nvPr/>
        </p:nvCxnSpPr>
        <p:spPr>
          <a:xfrm flipH="1">
            <a:off x="1394460" y="2313432"/>
            <a:ext cx="0" cy="100584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>
            <a:cxnSpLocks/>
            <a:stCxn id="16" idx="2"/>
            <a:endCxn id="19" idx="0"/>
          </p:cNvCxnSpPr>
          <p:nvPr/>
        </p:nvCxnSpPr>
        <p:spPr>
          <a:xfrm flipH="1">
            <a:off x="1378459" y="2926080"/>
            <a:ext cx="16001" cy="89406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>
            <a:cxnSpLocks/>
            <a:stCxn id="19" idx="2"/>
            <a:endCxn id="22" idx="0"/>
          </p:cNvCxnSpPr>
          <p:nvPr/>
        </p:nvCxnSpPr>
        <p:spPr>
          <a:xfrm>
            <a:off x="1378459" y="3585972"/>
            <a:ext cx="16001" cy="92668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>
            <a:stCxn id="22" idx="2"/>
            <a:endCxn id="25" idx="0"/>
          </p:cNvCxnSpPr>
          <p:nvPr/>
        </p:nvCxnSpPr>
        <p:spPr>
          <a:xfrm>
            <a:off x="1394460" y="4190704"/>
            <a:ext cx="0" cy="61256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>
            <a:stCxn id="25" idx="2"/>
            <a:endCxn id="28" idx="0"/>
          </p:cNvCxnSpPr>
          <p:nvPr/>
        </p:nvCxnSpPr>
        <p:spPr>
          <a:xfrm flipH="1">
            <a:off x="1394460" y="4764024"/>
            <a:ext cx="0" cy="100584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>
            <a:stCxn id="28" idx="2"/>
            <a:endCxn id="31" idx="0"/>
          </p:cNvCxnSpPr>
          <p:nvPr/>
        </p:nvCxnSpPr>
        <p:spPr>
          <a:xfrm flipH="1">
            <a:off x="1394460" y="5376672"/>
            <a:ext cx="0" cy="100584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>
            <a:stCxn id="31" idx="2"/>
            <a:endCxn id="34" idx="0"/>
          </p:cNvCxnSpPr>
          <p:nvPr/>
        </p:nvCxnSpPr>
        <p:spPr>
          <a:xfrm flipH="1">
            <a:off x="1386459" y="5989320"/>
            <a:ext cx="8001" cy="87847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>
            <a:cxnSpLocks/>
            <a:stCxn id="34" idx="2"/>
          </p:cNvCxnSpPr>
          <p:nvPr/>
        </p:nvCxnSpPr>
        <p:spPr>
          <a:xfrm>
            <a:off x="1386459" y="6589231"/>
            <a:ext cx="8001" cy="113321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>
            <a:cxnSpLocks/>
            <a:endCxn id="40" idx="0"/>
          </p:cNvCxnSpPr>
          <p:nvPr/>
        </p:nvCxnSpPr>
        <p:spPr>
          <a:xfrm flipH="1">
            <a:off x="1394460" y="6650488"/>
            <a:ext cx="0" cy="100584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4151376" y="1188720"/>
            <a:ext cx="646937" cy="2962656"/>
          </a:xfrm>
          <a:prstGeom prst="roundRect">
            <a:avLst>
              <a:gd name="adj" fmla="val 12000"/>
            </a:avLst>
          </a:prstGeom>
          <a:solidFill>
            <a:srgbClr val="E9EAEC"/>
          </a:solidFill>
          <a:ln w="1397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it-IT" sz="900" b="1" noProof="0" dirty="0">
                <a:solidFill>
                  <a:srgbClr val="1F2937"/>
                </a:solidFill>
                <a:latin typeface="Arial"/>
              </a:rPr>
              <a:t>Iniziale nessun atto in ANSC</a:t>
            </a:r>
          </a:p>
          <a:p>
            <a:pPr algn="ctr"/>
            <a:r>
              <a:rPr lang="it-IT" sz="700" b="0" noProof="0" dirty="0">
                <a:solidFill>
                  <a:srgbClr val="6B7280"/>
                </a:solidFill>
                <a:latin typeface="Arial"/>
              </a:rPr>
              <a:t>fino alla validazione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151376" y="4251960"/>
            <a:ext cx="1325880" cy="512064"/>
          </a:xfrm>
          <a:prstGeom prst="roundRect">
            <a:avLst>
              <a:gd name="adj" fmla="val 12000"/>
            </a:avLst>
          </a:prstGeom>
          <a:solidFill>
            <a:srgbClr val="FDF1D6"/>
          </a:solidFill>
          <a:ln w="1397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it-IT" sz="850" b="1" noProof="0" dirty="0">
                <a:solidFill>
                  <a:srgbClr val="1F2937"/>
                </a:solidFill>
                <a:latin typeface="Arial"/>
              </a:rPr>
              <a:t>2 CONFERMATO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51376" y="4864608"/>
            <a:ext cx="1325880" cy="512064"/>
          </a:xfrm>
          <a:prstGeom prst="roundRect">
            <a:avLst>
              <a:gd name="adj" fmla="val 12000"/>
            </a:avLst>
          </a:prstGeom>
          <a:solidFill>
            <a:srgbClr val="FDF1D6"/>
          </a:solidFill>
          <a:ln w="1397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it-IT" sz="850" b="1" noProof="0" dirty="0">
                <a:solidFill>
                  <a:srgbClr val="1F2937"/>
                </a:solidFill>
                <a:latin typeface="Arial"/>
              </a:rPr>
              <a:t>4 FIRMATO DAL DICHIARANTE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151376" y="5477256"/>
            <a:ext cx="1325880" cy="512064"/>
          </a:xfrm>
          <a:prstGeom prst="roundRect">
            <a:avLst>
              <a:gd name="adj" fmla="val 12000"/>
            </a:avLst>
          </a:prstGeom>
          <a:solidFill>
            <a:srgbClr val="FDF1D6"/>
          </a:solidFill>
          <a:ln w="1397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it-IT" sz="850" b="1" noProof="0" dirty="0">
                <a:solidFill>
                  <a:srgbClr val="1F2937"/>
                </a:solidFill>
                <a:latin typeface="Arial"/>
              </a:rPr>
              <a:t>11 FIRMATO PER CONFORMITÀ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151376" y="6089904"/>
            <a:ext cx="1325880" cy="1737360"/>
          </a:xfrm>
          <a:prstGeom prst="roundRect">
            <a:avLst>
              <a:gd name="adj" fmla="val 12000"/>
            </a:avLst>
          </a:prstGeom>
          <a:solidFill>
            <a:srgbClr val="FDF1D6"/>
          </a:solidFill>
          <a:ln w="1397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it-IT" sz="850" b="1" noProof="0" dirty="0">
                <a:solidFill>
                  <a:srgbClr val="1F2937"/>
                </a:solidFill>
                <a:latin typeface="Arial"/>
              </a:rPr>
              <a:t>5 FIRMATO DA USC</a:t>
            </a:r>
          </a:p>
        </p:txBody>
      </p:sp>
      <p:cxnSp>
        <p:nvCxnSpPr>
          <p:cNvPr id="56" name="Connector 55"/>
          <p:cNvCxnSpPr>
            <a:cxnSpLocks/>
            <a:stCxn id="51" idx="2"/>
            <a:endCxn id="52" idx="0"/>
          </p:cNvCxnSpPr>
          <p:nvPr/>
        </p:nvCxnSpPr>
        <p:spPr>
          <a:xfrm>
            <a:off x="4474845" y="4151376"/>
            <a:ext cx="339471" cy="100584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>
            <a:stCxn id="52" idx="2"/>
            <a:endCxn id="53" idx="0"/>
          </p:cNvCxnSpPr>
          <p:nvPr/>
        </p:nvCxnSpPr>
        <p:spPr>
          <a:xfrm flipH="1">
            <a:off x="4814316" y="4764024"/>
            <a:ext cx="0" cy="100584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>
            <a:stCxn id="53" idx="2"/>
            <a:endCxn id="54" idx="0"/>
          </p:cNvCxnSpPr>
          <p:nvPr/>
        </p:nvCxnSpPr>
        <p:spPr>
          <a:xfrm flipH="1">
            <a:off x="4814316" y="5376672"/>
            <a:ext cx="0" cy="100584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>
            <a:stCxn id="54" idx="2"/>
            <a:endCxn id="55" idx="0"/>
          </p:cNvCxnSpPr>
          <p:nvPr/>
        </p:nvCxnSpPr>
        <p:spPr>
          <a:xfrm flipH="1">
            <a:off x="4814316" y="5989320"/>
            <a:ext cx="0" cy="100584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854092" y="4158691"/>
            <a:ext cx="731520" cy="9144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lang="it-IT" sz="600" b="0" i="0" noProof="0" dirty="0">
                <a:solidFill>
                  <a:srgbClr val="6B7280"/>
                </a:solidFill>
                <a:latin typeface="Arial"/>
              </a:rPr>
              <a:t>R009 esito positivo</a:t>
            </a:r>
          </a:p>
        </p:txBody>
      </p:sp>
      <p:sp>
        <p:nvSpPr>
          <p:cNvPr id="61" name="Freeform 60"/>
          <p:cNvSpPr/>
          <p:nvPr/>
        </p:nvSpPr>
        <p:spPr>
          <a:xfrm>
            <a:off x="5477256" y="4507992"/>
            <a:ext cx="64008" cy="1225296"/>
          </a:xfrm>
          <a:custGeom>
            <a:avLst/>
            <a:gdLst/>
            <a:ahLst/>
            <a:cxnLst/>
            <a:rect l="l" t="t" r="r" b="b"/>
            <a:pathLst>
              <a:path w="64008" h="1225296">
                <a:moveTo>
                  <a:pt x="0" y="0"/>
                </a:moveTo>
                <a:lnTo>
                  <a:pt x="64008" y="0"/>
                </a:lnTo>
                <a:lnTo>
                  <a:pt x="64008" y="1225296"/>
                </a:lnTo>
                <a:lnTo>
                  <a:pt x="0" y="1225296"/>
                </a:lnTo>
              </a:path>
            </a:pathLst>
          </a:custGeom>
          <a:noFill/>
          <a:ln w="13970">
            <a:solidFill>
              <a:srgbClr val="4B5563"/>
            </a:solidFill>
            <a:prstDash val="dash"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62" name="TextBox 61"/>
          <p:cNvSpPr txBox="1"/>
          <p:nvPr/>
        </p:nvSpPr>
        <p:spPr>
          <a:xfrm rot="16200000">
            <a:off x="4796028" y="5070348"/>
            <a:ext cx="1645920" cy="100584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lang="it-IT" sz="600" b="0" i="0" noProof="0" dirty="0">
                <a:solidFill>
                  <a:srgbClr val="6B7280"/>
                </a:solidFill>
                <a:latin typeface="Arial"/>
              </a:rPr>
              <a:t>senza firmatari</a:t>
            </a:r>
          </a:p>
        </p:txBody>
      </p:sp>
      <p:sp>
        <p:nvSpPr>
          <p:cNvPr id="63" name="Freeform 62"/>
          <p:cNvSpPr/>
          <p:nvPr/>
        </p:nvSpPr>
        <p:spPr>
          <a:xfrm>
            <a:off x="127818" y="2057399"/>
            <a:ext cx="100781" cy="3704301"/>
          </a:xfrm>
          <a:custGeom>
            <a:avLst/>
            <a:gdLst/>
            <a:ahLst/>
            <a:cxnLst/>
            <a:rect l="l" t="t" r="r" b="b"/>
            <a:pathLst>
              <a:path w="109728" h="2450592">
                <a:moveTo>
                  <a:pt x="109728" y="2450592"/>
                </a:moveTo>
                <a:lnTo>
                  <a:pt x="0" y="2450592"/>
                </a:lnTo>
                <a:lnTo>
                  <a:pt x="0" y="0"/>
                </a:lnTo>
                <a:lnTo>
                  <a:pt x="109728" y="0"/>
                </a:lnTo>
              </a:path>
            </a:pathLst>
          </a:custGeom>
          <a:noFill/>
          <a:ln w="13970">
            <a:solidFill>
              <a:srgbClr val="B03A48"/>
            </a:solidFill>
            <a:prstDash val="dash"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64" name="TextBox 63"/>
          <p:cNvSpPr txBox="1"/>
          <p:nvPr/>
        </p:nvSpPr>
        <p:spPr>
          <a:xfrm rot="16200000">
            <a:off x="-758952" y="3232404"/>
            <a:ext cx="1645920" cy="100584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lang="it-IT" sz="600" b="0" i="0" noProof="0" dirty="0">
                <a:solidFill>
                  <a:srgbClr val="B03A48"/>
                </a:solidFill>
                <a:latin typeface="Arial"/>
              </a:rPr>
              <a:t>R009 KO: si corregge e si ripete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696712" y="1188720"/>
            <a:ext cx="932688" cy="512064"/>
          </a:xfrm>
          <a:prstGeom prst="roundRect">
            <a:avLst>
              <a:gd name="adj" fmla="val 12000"/>
            </a:avLst>
          </a:prstGeom>
          <a:solidFill>
            <a:srgbClr val="E9EAEC"/>
          </a:solidFill>
          <a:ln w="1397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it-IT" sz="850" b="1" noProof="0" dirty="0">
                <a:solidFill>
                  <a:srgbClr val="6B7280"/>
                </a:solidFill>
                <a:latin typeface="Arial"/>
              </a:rPr>
              <a:t>N.A.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696712" y="1801368"/>
            <a:ext cx="932688" cy="4800600"/>
          </a:xfrm>
          <a:prstGeom prst="roundRect">
            <a:avLst>
              <a:gd name="adj" fmla="val 12000"/>
            </a:avLst>
          </a:prstGeom>
          <a:solidFill>
            <a:srgbClr val="DCEFE1"/>
          </a:solidFill>
          <a:ln w="13970">
            <a:solidFill>
              <a:srgbClr val="3F8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it-IT" sz="1100" b="1" noProof="0" dirty="0">
                <a:solidFill>
                  <a:srgbClr val="1F2937"/>
                </a:solidFill>
                <a:latin typeface="Arial"/>
              </a:rPr>
              <a:t>1</a:t>
            </a:r>
          </a:p>
          <a:p>
            <a:pPr algn="ctr"/>
            <a:r>
              <a:rPr lang="it-IT" sz="800" b="1" noProof="0" dirty="0">
                <a:solidFill>
                  <a:srgbClr val="1F2937"/>
                </a:solidFill>
                <a:latin typeface="Arial"/>
              </a:rPr>
              <a:t>IN LAVORAZIONE</a:t>
            </a:r>
          </a:p>
          <a:p>
            <a:pPr algn="ctr"/>
            <a:r>
              <a:rPr lang="it-IT" sz="650" b="0" noProof="0" dirty="0">
                <a:solidFill>
                  <a:srgbClr val="6B7280"/>
                </a:solidFill>
                <a:latin typeface="Arial"/>
              </a:rPr>
              <a:t>nasce col numero provvisorio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696712" y="6702552"/>
            <a:ext cx="932688" cy="1124712"/>
          </a:xfrm>
          <a:prstGeom prst="roundRect">
            <a:avLst>
              <a:gd name="adj" fmla="val 12000"/>
            </a:avLst>
          </a:prstGeom>
          <a:solidFill>
            <a:srgbClr val="DCEFE1"/>
          </a:solidFill>
          <a:ln w="13970">
            <a:solidFill>
              <a:srgbClr val="3F8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it-IT" sz="1100" b="1" noProof="0" dirty="0">
                <a:solidFill>
                  <a:srgbClr val="1F2937"/>
                </a:solidFill>
                <a:latin typeface="Arial"/>
              </a:rPr>
              <a:t>2</a:t>
            </a:r>
          </a:p>
          <a:p>
            <a:pPr algn="ctr"/>
            <a:r>
              <a:rPr lang="it-IT" sz="800" b="1" noProof="0" dirty="0">
                <a:solidFill>
                  <a:srgbClr val="1F2937"/>
                </a:solidFill>
                <a:latin typeface="Arial"/>
              </a:rPr>
              <a:t>DEFINITO</a:t>
            </a:r>
          </a:p>
        </p:txBody>
      </p:sp>
      <p:cxnSp>
        <p:nvCxnSpPr>
          <p:cNvPr id="68" name="Connector 67"/>
          <p:cNvCxnSpPr>
            <a:stCxn id="65" idx="2"/>
            <a:endCxn id="66" idx="0"/>
          </p:cNvCxnSpPr>
          <p:nvPr/>
        </p:nvCxnSpPr>
        <p:spPr>
          <a:xfrm flipH="1">
            <a:off x="6163056" y="1700784"/>
            <a:ext cx="0" cy="100584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>
            <a:stCxn id="66" idx="2"/>
            <a:endCxn id="67" idx="0"/>
          </p:cNvCxnSpPr>
          <p:nvPr/>
        </p:nvCxnSpPr>
        <p:spPr>
          <a:xfrm flipH="1">
            <a:off x="6163056" y="6601968"/>
            <a:ext cx="0" cy="100584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209690" y="6609283"/>
            <a:ext cx="548640" cy="9144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lang="it-IT" sz="600" b="0" i="0" noProof="0" dirty="0">
                <a:solidFill>
                  <a:srgbClr val="6B7280"/>
                </a:solidFill>
                <a:latin typeface="Arial"/>
              </a:rPr>
              <a:t>Definisci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82880" y="6652260"/>
            <a:ext cx="3922776" cy="0"/>
          </a:xfrm>
          <a:prstGeom prst="line">
            <a:avLst/>
          </a:prstGeom>
          <a:ln w="19050">
            <a:solidFill>
              <a:srgbClr val="B03A4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2670048" y="6505956"/>
            <a:ext cx="1463040" cy="13716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lang="it-IT" sz="650" b="1" i="0" noProof="0" dirty="0">
                <a:solidFill>
                  <a:srgbClr val="B03A48"/>
                </a:solidFill>
                <a:latin typeface="Arial"/>
              </a:rPr>
              <a:t>punto di non ritorno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670048" y="8101584"/>
            <a:ext cx="3959352" cy="786384"/>
          </a:xfrm>
          <a:prstGeom prst="roundRect">
            <a:avLst>
              <a:gd name="adj" fmla="val 12000"/>
            </a:avLst>
          </a:prstGeom>
          <a:solidFill>
            <a:srgbClr val="ECE5F5"/>
          </a:solidFill>
          <a:ln w="13970">
            <a:solidFill>
              <a:srgbClr val="7B5A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it-IT" sz="850" b="1" noProof="0" dirty="0">
                <a:solidFill>
                  <a:srgbClr val="1F2937"/>
                </a:solidFill>
                <a:latin typeface="Arial"/>
              </a:rPr>
              <a:t>Dopo la formazione</a:t>
            </a:r>
          </a:p>
          <a:p>
            <a:pPr algn="ctr"/>
            <a:r>
              <a:rPr lang="it-IT" sz="750" b="0" noProof="0" dirty="0">
                <a:solidFill>
                  <a:srgbClr val="1F2937"/>
                </a:solidFill>
                <a:latin typeface="Arial"/>
              </a:rPr>
              <a:t>9 CANCELLATO — R011</a:t>
            </a:r>
          </a:p>
          <a:p>
            <a:pPr algn="ctr"/>
            <a:r>
              <a:rPr lang="it-IT" sz="750" b="0" noProof="0" dirty="0">
                <a:solidFill>
                  <a:srgbClr val="1F2937"/>
                </a:solidFill>
                <a:latin typeface="Arial"/>
              </a:rPr>
              <a:t>3 ANNULLATO · 10 INEFFICACE — rettifica di tipo annullamento; annullamento per inefficacia</a:t>
            </a:r>
          </a:p>
        </p:txBody>
      </p:sp>
      <p:cxnSp>
        <p:nvCxnSpPr>
          <p:cNvPr id="74" name="Connector 73"/>
          <p:cNvCxnSpPr>
            <a:stCxn id="55" idx="2"/>
            <a:endCxn id="73" idx="0"/>
          </p:cNvCxnSpPr>
          <p:nvPr/>
        </p:nvCxnSpPr>
        <p:spPr>
          <a:xfrm flipH="1">
            <a:off x="4649724" y="7827264"/>
            <a:ext cx="164592" cy="274320"/>
          </a:xfrm>
          <a:prstGeom prst="line">
            <a:avLst/>
          </a:prstGeom>
          <a:ln w="15875">
            <a:solidFill>
              <a:srgbClr val="4B556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228600" y="8101584"/>
            <a:ext cx="201168" cy="109728"/>
          </a:xfrm>
          <a:prstGeom prst="rect">
            <a:avLst/>
          </a:prstGeom>
          <a:solidFill>
            <a:srgbClr val="DBE6F5"/>
          </a:solidFill>
          <a:ln w="13970">
            <a:solidFill>
              <a:srgbClr val="2F6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 lang="it-IT" noProof="0" dirty="0"/>
          </a:p>
        </p:txBody>
      </p:sp>
      <p:sp>
        <p:nvSpPr>
          <p:cNvPr id="76" name="TextBox 75"/>
          <p:cNvSpPr txBox="1"/>
          <p:nvPr/>
        </p:nvSpPr>
        <p:spPr>
          <a:xfrm>
            <a:off x="475488" y="8087868"/>
            <a:ext cx="2011680" cy="13716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lang="it-IT" sz="700" b="0" i="0" noProof="0" dirty="0">
                <a:solidFill>
                  <a:srgbClr val="6B7280"/>
                </a:solidFill>
                <a:latin typeface="Arial"/>
              </a:rPr>
              <a:t>pagina di SIPO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28600" y="8257032"/>
            <a:ext cx="201168" cy="109728"/>
          </a:xfrm>
          <a:prstGeom prst="rect">
            <a:avLst/>
          </a:prstGeom>
          <a:solidFill>
            <a:srgbClr val="FFFFFF"/>
          </a:solidFill>
          <a:ln w="1397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 lang="it-IT" noProof="0" dirty="0"/>
          </a:p>
        </p:txBody>
      </p:sp>
      <p:sp>
        <p:nvSpPr>
          <p:cNvPr id="78" name="TextBox 77"/>
          <p:cNvSpPr txBox="1"/>
          <p:nvPr/>
        </p:nvSpPr>
        <p:spPr>
          <a:xfrm>
            <a:off x="475488" y="8243316"/>
            <a:ext cx="2011680" cy="13716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lang="it-IT" sz="700" b="0" i="0" noProof="0" dirty="0">
                <a:solidFill>
                  <a:srgbClr val="6B7280"/>
                </a:solidFill>
                <a:latin typeface="Arial"/>
              </a:rPr>
              <a:t>servizio chiamato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28600" y="8412480"/>
            <a:ext cx="201168" cy="109728"/>
          </a:xfrm>
          <a:prstGeom prst="rect">
            <a:avLst/>
          </a:prstGeom>
          <a:solidFill>
            <a:srgbClr val="FDF1D6"/>
          </a:solidFill>
          <a:ln w="1397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 lang="it-IT" noProof="0" dirty="0"/>
          </a:p>
        </p:txBody>
      </p:sp>
      <p:sp>
        <p:nvSpPr>
          <p:cNvPr id="80" name="TextBox 79"/>
          <p:cNvSpPr txBox="1"/>
          <p:nvPr/>
        </p:nvSpPr>
        <p:spPr>
          <a:xfrm>
            <a:off x="475488" y="8398764"/>
            <a:ext cx="2011680" cy="13716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lang="it-IT" sz="700" b="0" i="0" noProof="0" dirty="0">
                <a:solidFill>
                  <a:srgbClr val="6B7280"/>
                </a:solidFill>
                <a:latin typeface="Arial"/>
              </a:rPr>
              <a:t>stato ANSC (ANSC_11)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" y="8567928"/>
            <a:ext cx="201168" cy="109728"/>
          </a:xfrm>
          <a:prstGeom prst="rect">
            <a:avLst/>
          </a:prstGeom>
          <a:solidFill>
            <a:srgbClr val="DCEFE1"/>
          </a:solidFill>
          <a:ln w="13970">
            <a:solidFill>
              <a:srgbClr val="3F8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 lang="it-IT" noProof="0" dirty="0"/>
          </a:p>
        </p:txBody>
      </p:sp>
      <p:sp>
        <p:nvSpPr>
          <p:cNvPr id="82" name="TextBox 81"/>
          <p:cNvSpPr txBox="1"/>
          <p:nvPr/>
        </p:nvSpPr>
        <p:spPr>
          <a:xfrm>
            <a:off x="475488" y="8554212"/>
            <a:ext cx="2011680" cy="13716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lang="it-IT" sz="700" b="0" i="0" noProof="0" dirty="0">
                <a:solidFill>
                  <a:srgbClr val="6B7280"/>
                </a:solidFill>
                <a:latin typeface="Arial"/>
              </a:rPr>
              <a:t>stato SIPO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28600" y="8723376"/>
            <a:ext cx="201168" cy="109728"/>
          </a:xfrm>
          <a:prstGeom prst="rect">
            <a:avLst/>
          </a:prstGeom>
          <a:solidFill>
            <a:srgbClr val="ECE5F5"/>
          </a:solidFill>
          <a:ln w="13970">
            <a:solidFill>
              <a:srgbClr val="7B5A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 lang="it-IT" noProof="0" dirty="0"/>
          </a:p>
        </p:txBody>
      </p:sp>
      <p:sp>
        <p:nvSpPr>
          <p:cNvPr id="84" name="TextBox 83"/>
          <p:cNvSpPr txBox="1"/>
          <p:nvPr/>
        </p:nvSpPr>
        <p:spPr>
          <a:xfrm>
            <a:off x="475488" y="8709660"/>
            <a:ext cx="2011680" cy="13716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lang="it-IT" sz="700" b="0" i="0" noProof="0" dirty="0">
                <a:solidFill>
                  <a:srgbClr val="6B7280"/>
                </a:solidFill>
                <a:latin typeface="Arial"/>
              </a:rPr>
              <a:t>stati successivi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28600" y="8906256"/>
            <a:ext cx="2377440" cy="2743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lang="it-IT" sz="650" b="0" i="1" noProof="0" dirty="0">
                <a:solidFill>
                  <a:srgbClr val="6B7280"/>
                </a:solidFill>
                <a:latin typeface="Arial"/>
              </a:rPr>
              <a:t>Tratteggio: ritorno, salto o passaggio successivo alla formazione</a:t>
            </a:r>
          </a:p>
        </p:txBody>
      </p:sp>
      <p:sp>
        <p:nvSpPr>
          <p:cNvPr id="105" name="Stella a 5 punte 104">
            <a:extLst>
              <a:ext uri="{FF2B5EF4-FFF2-40B4-BE49-F238E27FC236}">
                <a16:creationId xmlns:a16="http://schemas.microsoft.com/office/drawing/2014/main" id="{9CE11171-0F0D-00BE-8131-BEC37B98F664}"/>
              </a:ext>
            </a:extLst>
          </p:cNvPr>
          <p:cNvSpPr/>
          <p:nvPr/>
        </p:nvSpPr>
        <p:spPr>
          <a:xfrm>
            <a:off x="2587752" y="2396585"/>
            <a:ext cx="194878" cy="149161"/>
          </a:xfrm>
          <a:prstGeom prst="star5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06" name="Stella a 5 punte 105">
            <a:extLst>
              <a:ext uri="{FF2B5EF4-FFF2-40B4-BE49-F238E27FC236}">
                <a16:creationId xmlns:a16="http://schemas.microsoft.com/office/drawing/2014/main" id="{1020DC91-D3E1-4E1B-E425-BE289888343F}"/>
              </a:ext>
            </a:extLst>
          </p:cNvPr>
          <p:cNvSpPr/>
          <p:nvPr/>
        </p:nvSpPr>
        <p:spPr>
          <a:xfrm>
            <a:off x="2584898" y="3559904"/>
            <a:ext cx="194878" cy="149161"/>
          </a:xfrm>
          <a:prstGeom prst="star5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07" name="Stella a 5 punte 106">
            <a:extLst>
              <a:ext uri="{FF2B5EF4-FFF2-40B4-BE49-F238E27FC236}">
                <a16:creationId xmlns:a16="http://schemas.microsoft.com/office/drawing/2014/main" id="{08BEF7E4-F6B3-FF2C-91F2-F284D40420BE}"/>
              </a:ext>
            </a:extLst>
          </p:cNvPr>
          <p:cNvSpPr/>
          <p:nvPr/>
        </p:nvSpPr>
        <p:spPr>
          <a:xfrm>
            <a:off x="2587752" y="4230815"/>
            <a:ext cx="194878" cy="149161"/>
          </a:xfrm>
          <a:prstGeom prst="star5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08" name="Stella a 5 punte 107">
            <a:extLst>
              <a:ext uri="{FF2B5EF4-FFF2-40B4-BE49-F238E27FC236}">
                <a16:creationId xmlns:a16="http://schemas.microsoft.com/office/drawing/2014/main" id="{71DDF924-8E4F-F5C0-48C1-2932C7928E6E}"/>
              </a:ext>
            </a:extLst>
          </p:cNvPr>
          <p:cNvSpPr/>
          <p:nvPr/>
        </p:nvSpPr>
        <p:spPr>
          <a:xfrm>
            <a:off x="2572609" y="4848093"/>
            <a:ext cx="194878" cy="149161"/>
          </a:xfrm>
          <a:prstGeom prst="star5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09" name="Stella a 5 punte 108">
            <a:extLst>
              <a:ext uri="{FF2B5EF4-FFF2-40B4-BE49-F238E27FC236}">
                <a16:creationId xmlns:a16="http://schemas.microsoft.com/office/drawing/2014/main" id="{4AEB0B39-2C2D-9B31-153D-7DC09676357E}"/>
              </a:ext>
            </a:extLst>
          </p:cNvPr>
          <p:cNvSpPr/>
          <p:nvPr/>
        </p:nvSpPr>
        <p:spPr>
          <a:xfrm>
            <a:off x="2572609" y="5468399"/>
            <a:ext cx="194878" cy="149161"/>
          </a:xfrm>
          <a:prstGeom prst="star5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10" name="Stella a 5 punte 109">
            <a:extLst>
              <a:ext uri="{FF2B5EF4-FFF2-40B4-BE49-F238E27FC236}">
                <a16:creationId xmlns:a16="http://schemas.microsoft.com/office/drawing/2014/main" id="{54B17011-C6B3-AB28-DC0D-8ADD09F5F540}"/>
              </a:ext>
            </a:extLst>
          </p:cNvPr>
          <p:cNvSpPr/>
          <p:nvPr/>
        </p:nvSpPr>
        <p:spPr>
          <a:xfrm>
            <a:off x="2578608" y="6097831"/>
            <a:ext cx="194878" cy="149161"/>
          </a:xfrm>
          <a:prstGeom prst="star5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11" name="Stella a 5 punte 110">
            <a:extLst>
              <a:ext uri="{FF2B5EF4-FFF2-40B4-BE49-F238E27FC236}">
                <a16:creationId xmlns:a16="http://schemas.microsoft.com/office/drawing/2014/main" id="{A21DD5F3-B723-493C-2A5E-214B6D10B1E0}"/>
              </a:ext>
            </a:extLst>
          </p:cNvPr>
          <p:cNvSpPr/>
          <p:nvPr/>
        </p:nvSpPr>
        <p:spPr>
          <a:xfrm>
            <a:off x="234890" y="7867867"/>
            <a:ext cx="194878" cy="149161"/>
          </a:xfrm>
          <a:prstGeom prst="star5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12" name="TextBox 75">
            <a:extLst>
              <a:ext uri="{FF2B5EF4-FFF2-40B4-BE49-F238E27FC236}">
                <a16:creationId xmlns:a16="http://schemas.microsoft.com/office/drawing/2014/main" id="{0729DFA3-44A1-9DF3-782D-D04D40129869}"/>
              </a:ext>
            </a:extLst>
          </p:cNvPr>
          <p:cNvSpPr txBox="1"/>
          <p:nvPr/>
        </p:nvSpPr>
        <p:spPr>
          <a:xfrm>
            <a:off x="475488" y="7875783"/>
            <a:ext cx="2011680" cy="12618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lang="it-IT" sz="700" b="0" i="0" noProof="0" dirty="0">
                <a:solidFill>
                  <a:srgbClr val="6B7280"/>
                </a:solidFill>
                <a:latin typeface="Arial"/>
              </a:rPr>
              <a:t>Necessario OTP ANSC</a:t>
            </a:r>
          </a:p>
        </p:txBody>
      </p:sp>
      <p:sp>
        <p:nvSpPr>
          <p:cNvPr id="86" name="Rounded Rectangle 50">
            <a:extLst>
              <a:ext uri="{FF2B5EF4-FFF2-40B4-BE49-F238E27FC236}">
                <a16:creationId xmlns:a16="http://schemas.microsoft.com/office/drawing/2014/main" id="{56B3C57A-7345-B880-A5D3-A5848323D518}"/>
              </a:ext>
            </a:extLst>
          </p:cNvPr>
          <p:cNvSpPr/>
          <p:nvPr/>
        </p:nvSpPr>
        <p:spPr>
          <a:xfrm>
            <a:off x="4892041" y="1801368"/>
            <a:ext cx="571500" cy="2342576"/>
          </a:xfrm>
          <a:prstGeom prst="roundRect">
            <a:avLst>
              <a:gd name="adj" fmla="val 12000"/>
            </a:avLst>
          </a:prstGeom>
          <a:solidFill>
            <a:srgbClr val="E9EAEC"/>
          </a:solidFill>
          <a:ln w="1397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it-IT" sz="900" b="1" noProof="0" dirty="0">
                <a:solidFill>
                  <a:srgbClr val="1F2937"/>
                </a:solidFill>
                <a:latin typeface="Arial"/>
              </a:rPr>
              <a:t>Post validazione ANSC</a:t>
            </a:r>
          </a:p>
          <a:p>
            <a:pPr algn="ctr"/>
            <a:r>
              <a:rPr lang="it-IT" sz="700" b="0" noProof="0" dirty="0">
                <a:solidFill>
                  <a:srgbClr val="6B7280"/>
                </a:solidFill>
                <a:latin typeface="Arial"/>
              </a:rPr>
              <a:t>UC noto</a:t>
            </a:r>
          </a:p>
          <a:p>
            <a:pPr algn="ctr"/>
            <a:r>
              <a:rPr lang="it-IT" sz="700" noProof="0" dirty="0">
                <a:solidFill>
                  <a:srgbClr val="6B7280"/>
                </a:solidFill>
                <a:latin typeface="Arial"/>
              </a:rPr>
              <a:t>IdAnsc acquisito</a:t>
            </a:r>
            <a:br>
              <a:rPr lang="it-IT" sz="700" noProof="0" dirty="0">
                <a:solidFill>
                  <a:srgbClr val="6B7280"/>
                </a:solidFill>
                <a:latin typeface="Arial"/>
              </a:rPr>
            </a:br>
            <a:r>
              <a:rPr lang="it-IT" sz="700" noProof="0" dirty="0">
                <a:solidFill>
                  <a:srgbClr val="6B7280"/>
                </a:solidFill>
                <a:latin typeface="Arial"/>
              </a:rPr>
              <a:t>STATO_ANSC = 0 /BOZZA</a:t>
            </a:r>
            <a:endParaRPr lang="it-IT" sz="700" b="0" noProof="0" dirty="0">
              <a:solidFill>
                <a:srgbClr val="6B728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391</Words>
  <Application>Microsoft Macintosh PowerPoint</Application>
  <PresentationFormat>Personalizzato</PresentationFormat>
  <Paragraphs>70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Bernardo Puccetti</cp:lastModifiedBy>
  <cp:revision>10</cp:revision>
  <dcterms:created xsi:type="dcterms:W3CDTF">2013-01-27T09:14:16Z</dcterms:created>
  <dcterms:modified xsi:type="dcterms:W3CDTF">2026-10-21T19:48:22Z</dcterms:modified>
  <cp:category/>
</cp:coreProperties>
</file>